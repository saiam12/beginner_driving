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bd07c771244119" /><Relationship Type="http://schemas.openxmlformats.org/officeDocument/2006/relationships/extended-properties" Target="/docProps/app.xml" Id="Rd99da55b2b9f444e" /><Relationship Type="http://schemas.openxmlformats.org/officeDocument/2006/relationships/officeDocument" Target="/ppt/presentation.xml" Id="R2547ca5af1554019" /></Relationships>
</file>

<file path=ppt/presentation.xml><?xml version="1.0" encoding="utf-8"?>
<p:presentation xmlns:p="http://schemas.openxmlformats.org/presentationml/2006/main">
  <p:sldMasterIdLst>
    <p:sldMasterId xmlns:r="http://schemas.openxmlformats.org/officeDocument/2006/relationships" id="2147483648" r:id="R5a9d7e34b8984738"/>
  </p:sldMasterIdLst>
  <p:notesMasterIdLst>
    <p:notesMasterId xmlns:r="http://schemas.openxmlformats.org/officeDocument/2006/relationships" r:id="Rf1e2ca4a828f41f7"/>
  </p:notesMasterIdLst>
  <p:sldIdLst>
    <p:sldId xmlns:r="http://schemas.openxmlformats.org/officeDocument/2006/relationships" id="256" r:id="R77fa656211f441b3"/>
    <p:sldId xmlns:r="http://schemas.openxmlformats.org/officeDocument/2006/relationships" id="257" r:id="Rea951ebf7fd04be8"/>
    <p:sldId xmlns:r="http://schemas.openxmlformats.org/officeDocument/2006/relationships" id="258" r:id="R145e27a3ec4a4cee"/>
    <p:sldId xmlns:r="http://schemas.openxmlformats.org/officeDocument/2006/relationships" id="259" r:id="Rcb5ffc0411474881"/>
    <p:sldId xmlns:r="http://schemas.openxmlformats.org/officeDocument/2006/relationships" id="260" r:id="Rd6ca40168b6d42d3"/>
    <p:sldId xmlns:r="http://schemas.openxmlformats.org/officeDocument/2006/relationships" id="261" r:id="Re8d35869c1e14f70"/>
    <p:sldId xmlns:r="http://schemas.openxmlformats.org/officeDocument/2006/relationships" id="262" r:id="Ra3d2f817c6d34bba"/>
    <p:sldId xmlns:r="http://schemas.openxmlformats.org/officeDocument/2006/relationships" id="263" r:id="R1059b1931aca4027"/>
    <p:sldId xmlns:r="http://schemas.openxmlformats.org/officeDocument/2006/relationships" id="264" r:id="Re2d7b3bc23c447f0"/>
    <p:sldId xmlns:r="http://schemas.openxmlformats.org/officeDocument/2006/relationships" id="265" r:id="R5b2260dbdecf4f39"/>
    <p:sldId xmlns:r="http://schemas.openxmlformats.org/officeDocument/2006/relationships" id="266" r:id="R610722d5da004640"/>
    <p:sldId xmlns:r="http://schemas.openxmlformats.org/officeDocument/2006/relationships" id="267" r:id="R1cd9b6841e7c42be"/>
    <p:sldId xmlns:r="http://schemas.openxmlformats.org/officeDocument/2006/relationships" id="268" r:id="R21405120501b4322"/>
    <p:sldId xmlns:r="http://schemas.openxmlformats.org/officeDocument/2006/relationships" id="269" r:id="R06b6bd3306ca4f7f"/>
    <p:sldId xmlns:r="http://schemas.openxmlformats.org/officeDocument/2006/relationships" id="270" r:id="Rb6f6a5cefdd643f5"/>
    <p:sldId xmlns:r="http://schemas.openxmlformats.org/officeDocument/2006/relationships" id="271" r:id="R5cbbf683abac445a"/>
    <p:sldId xmlns:r="http://schemas.openxmlformats.org/officeDocument/2006/relationships" id="272" r:id="Rd35e4ca1962044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468c0bc83d4867" /><Relationship Type="http://schemas.openxmlformats.org/officeDocument/2006/relationships/slideMaster" Target="/ppt/slideMasters/slideMaster1.xml" Id="R5a9d7e34b8984738" /><Relationship Type="http://schemas.openxmlformats.org/officeDocument/2006/relationships/notesMaster" Target="/ppt/notesMasters/notesMaster1.xml" Id="Rf1e2ca4a828f41f7" /><Relationship Type="http://schemas.openxmlformats.org/officeDocument/2006/relationships/presProps" Target="/ppt/presProps.xml" Id="Rd8002e8be9234e50" /><Relationship Type="http://schemas.openxmlformats.org/officeDocument/2006/relationships/tableStyles" Target="/ppt/tableStyles.xml" Id="R77458552e4174189" /><Relationship Type="http://schemas.openxmlformats.org/officeDocument/2006/relationships/slide" Target="/ppt/slides/slide1.xml" Id="R77fa656211f441b3" /><Relationship Type="http://schemas.openxmlformats.org/officeDocument/2006/relationships/slide" Target="/ppt/slides/slide2.xml" Id="Rea951ebf7fd04be8" /><Relationship Type="http://schemas.openxmlformats.org/officeDocument/2006/relationships/slide" Target="/ppt/slides/slide3.xml" Id="R145e27a3ec4a4cee" /><Relationship Type="http://schemas.openxmlformats.org/officeDocument/2006/relationships/slide" Target="/ppt/slides/slide4.xml" Id="Rcb5ffc0411474881" /><Relationship Type="http://schemas.openxmlformats.org/officeDocument/2006/relationships/slide" Target="/ppt/slides/slide5.xml" Id="Rd6ca40168b6d42d3" /><Relationship Type="http://schemas.openxmlformats.org/officeDocument/2006/relationships/slide" Target="/ppt/slides/slide6.xml" Id="Re8d35869c1e14f70" /><Relationship Type="http://schemas.openxmlformats.org/officeDocument/2006/relationships/slide" Target="/ppt/slides/slide7.xml" Id="Ra3d2f817c6d34bba" /><Relationship Type="http://schemas.openxmlformats.org/officeDocument/2006/relationships/slide" Target="/ppt/slides/slide8.xml" Id="R1059b1931aca4027" /><Relationship Type="http://schemas.openxmlformats.org/officeDocument/2006/relationships/slide" Target="/ppt/slides/slide9.xml" Id="Re2d7b3bc23c447f0" /><Relationship Type="http://schemas.openxmlformats.org/officeDocument/2006/relationships/slide" Target="/ppt/slides/slide10.xml" Id="R5b2260dbdecf4f39" /><Relationship Type="http://schemas.openxmlformats.org/officeDocument/2006/relationships/slide" Target="/ppt/slides/slide11.xml" Id="R610722d5da004640" /><Relationship Type="http://schemas.openxmlformats.org/officeDocument/2006/relationships/slide" Target="/ppt/slides/slide12.xml" Id="R1cd9b6841e7c42be" /><Relationship Type="http://schemas.openxmlformats.org/officeDocument/2006/relationships/slide" Target="/ppt/slides/slide13.xml" Id="R21405120501b4322" /><Relationship Type="http://schemas.openxmlformats.org/officeDocument/2006/relationships/slide" Target="/ppt/slides/slide14.xml" Id="R06b6bd3306ca4f7f" /><Relationship Type="http://schemas.openxmlformats.org/officeDocument/2006/relationships/slide" Target="/ppt/slides/slide15.xml" Id="Rb6f6a5cefdd643f5" /><Relationship Type="http://schemas.openxmlformats.org/officeDocument/2006/relationships/slide" Target="/ppt/slides/slide16.xml" Id="R5cbbf683abac445a" /><Relationship Type="http://schemas.openxmlformats.org/officeDocument/2006/relationships/slide" Target="/ppt/slides/slide17.xml" Id="Rd35e4ca1962044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0be84f2ff34f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56d5d12ed743ed" /><Relationship Type="http://schemas.openxmlformats.org/officeDocument/2006/relationships/notesMaster" Target="/ppt/notesMasters/notesMaster1.xml" Id="R722a76a8b98144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b99f65f15d4fce" /><Relationship Type="http://schemas.openxmlformats.org/officeDocument/2006/relationships/notesMaster" Target="/ppt/notesMasters/notesMaster1.xml" Id="R7718566125f546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965a5aaf5944dc" /><Relationship Type="http://schemas.openxmlformats.org/officeDocument/2006/relationships/notesMaster" Target="/ppt/notesMasters/notesMaster1.xml" Id="R5845bacb0eaf45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523a6d0a9d4746" /><Relationship Type="http://schemas.openxmlformats.org/officeDocument/2006/relationships/notesMaster" Target="/ppt/notesMasters/notesMaster1.xml" Id="R859bb51c09e843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2b82f7e94f4e93" /><Relationship Type="http://schemas.openxmlformats.org/officeDocument/2006/relationships/notesMaster" Target="/ppt/notesMasters/notesMaster1.xml" Id="Re3233d1c259943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be7028e0f40a0" /><Relationship Type="http://schemas.openxmlformats.org/officeDocument/2006/relationships/notesMaster" Target="/ppt/notesMasters/notesMaster1.xml" Id="R0eacc69de5ce4c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081a4158024f9f" /><Relationship Type="http://schemas.openxmlformats.org/officeDocument/2006/relationships/notesMaster" Target="/ppt/notesMasters/notesMaster1.xml" Id="R016416a1290447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5f92b2c48240d1" /><Relationship Type="http://schemas.openxmlformats.org/officeDocument/2006/relationships/notesMaster" Target="/ppt/notesMasters/notesMaster1.xml" Id="Rde47732b7aba48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6cb1100ff446e3" /><Relationship Type="http://schemas.openxmlformats.org/officeDocument/2006/relationships/notesMaster" Target="/ppt/notesMasters/notesMaster1.xml" Id="R5db9ecb018ce49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f32265bba54cec" /><Relationship Type="http://schemas.openxmlformats.org/officeDocument/2006/relationships/notesMaster" Target="/ppt/notesMasters/notesMaster1.xml" Id="R2e97d5a13e5d4c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3187ecd9234211" /><Relationship Type="http://schemas.openxmlformats.org/officeDocument/2006/relationships/notesMaster" Target="/ppt/notesMasters/notesMaster1.xml" Id="Ra5b4b024df3340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affddbe2d34afb" /><Relationship Type="http://schemas.openxmlformats.org/officeDocument/2006/relationships/notesMaster" Target="/ppt/notesMasters/notesMaster1.xml" Id="R7561e1858dc44f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7ee702e9224629" /><Relationship Type="http://schemas.openxmlformats.org/officeDocument/2006/relationships/notesMaster" Target="/ppt/notesMasters/notesMaster1.xml" Id="R2ce9b7c8795e4f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f8e392bc074ade" /><Relationship Type="http://schemas.openxmlformats.org/officeDocument/2006/relationships/notesMaster" Target="/ppt/notesMasters/notesMaster1.xml" Id="R1bd99b64bf9845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607ee63f5f4413" /><Relationship Type="http://schemas.openxmlformats.org/officeDocument/2006/relationships/notesMaster" Target="/ppt/notesMasters/notesMaster1.xml" Id="R4309d6b0807f4f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8887887fce495f" /><Relationship Type="http://schemas.openxmlformats.org/officeDocument/2006/relationships/notesMaster" Target="/ppt/notesMasters/notesMaster1.xml" Id="R5cfb3a6ae400437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e84feb1c8e450a" /><Relationship Type="http://schemas.openxmlformats.org/officeDocument/2006/relationships/notesMaster" Target="/ppt/notesMasters/notesMaster1.xml" Id="R28f54a279ae247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초보운전자와 운전을 다시 시작하는 사람이 원하는 운전 경험에 맞는 경로를 비교할 수 있도록 돕는 서비스, 차근차근을 제안합니다. 거리뿐 아니라 회전과 도로 특성, 교통량과 사고 정보를 함께 살펴보는 것이 핵심입니다.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운전 연습의 첫 단계는 어디에서 무엇을 연습할지 정하는 일입니다. 거리와 도로명만으로는 좌회전, 교차로, 차로 변화와 통행량을 충분히 알기 어렵습니다. 기획서에서는 기존 경로 안내의 거리·소요시간과 지인의 개인 경험만으로 초보운전자의 목표를 판단하기 어렵다는 문제를 제시합니다.</a:t>
            </a:r>
          </a:p>
          <a:p xmlns:a="http://schemas.openxmlformats.org/drawingml/2006/main">
            <a:r>
              <a:t/>
            </a:r>
          </a:p>
          <a:p xmlns:a="http://schemas.openxmlformats.org/drawingml/2006/main">
            <a:r>
              <a:t>출처: 차근차근 아이디어 기획서 최종본(사용자 제공), 관련 절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주제를 선정한 이유는 초보운전자가 원하는 경험과 경로의 실제 특성을 함께 비교하도록 돕기 위해서입니다. 주요 대상은 초보운전자, 장롱면허 운전자, 운전을 재개하는 사람과 새로운 생활권에 적응하려는 사람입니다. 보호자도 같은 정보를 보며 계획을 논의할 수 있습니다.</a:t>
            </a:r>
          </a:p>
          <a:p xmlns:a="http://schemas.openxmlformats.org/drawingml/2006/main">
            <a:r>
              <a:t/>
            </a:r>
          </a:p>
          <a:p xmlns:a="http://schemas.openxmlformats.org/drawingml/2006/main">
            <a:r>
              <a:t>출처: 차근차근 아이디어 기획서 최종본(사용자 제공), 관련 절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전국을 서비스 대상으로 삼고 17개 시도의 교통량 자료를 활용하는 구상을 제안합니다. 대구는 자료를 활용한 계산 사례입니다. 여러 후보를 같은 기준으로 보여주며, 사용자가 자신의 목표와 부담에 맞는 후보를 선택하도록 설계합니다.</a:t>
            </a:r>
          </a:p>
          <a:p xmlns:a="http://schemas.openxmlformats.org/drawingml/2006/main">
            <a:r>
              <a:t/>
            </a:r>
          </a:p>
          <a:p xmlns:a="http://schemas.openxmlformats.org/drawingml/2006/main">
            <a:r>
              <a:t>출처: 차근차근 아이디어 기획서 최종본(사용자 제공), 관련 절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출발 위치, 희망 거리, 순환형이나 편도형, 도착 위치와 선호 차로를 설정합니다. 원하는 경험을 말로 입력하면 AI가 정해진 연습 목표로 정리하고 사용자가 확인·수정합니다. 이후 후보를 비교하고 추천 이유를 확인해 선택합니다. 원하는 후보가 없으면 조건을 바꿔 다시 비교합니다.</a:t>
            </a:r>
          </a:p>
          <a:p xmlns:a="http://schemas.openxmlformats.org/drawingml/2006/main">
            <a:r>
              <a:t/>
            </a:r>
          </a:p>
          <a:p xmlns:a="http://schemas.openxmlformats.org/drawingml/2006/main">
            <a:r>
              <a:t>출처: 차근차근 아이디어 기획서 최종본(사용자 제공), 관련 절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AI는 자연어를 정해진 연습 목표로 정리하고, 생성된 후보의 회전 횟수와 비용 차이에 근거해 설명 및 추천합니다. 이용자는 해석된 목표를 확인하고 수정합니다. AI 설명을 이용하기 어려운 경우에도 지도·거리·회전 횟수 같은 공통 정보로 비교할 수 있도록 설계합니다.</a:t>
            </a:r>
          </a:p>
          <a:p xmlns:a="http://schemas.openxmlformats.org/drawingml/2006/main">
            <a:r>
              <a:t/>
            </a:r>
          </a:p>
          <a:p xmlns:a="http://schemas.openxmlformats.org/drawingml/2006/main">
            <a:r>
              <a:t>출처: 차근차근 아이디어 기획서 최종본(사용자 제공), 관련 절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연결된 도로와 거리·형태·연습 목표 조건으로 후보를 구성합니다. 사고 제외 구간은 탐색 전에 제거합니다. 함께 제시하는 후보끼리 공통 구간의 길이를 더 긴 경로의 길이로 나눈 중첩 비율이 50% 미만이 되도록 정리하고 최대 다섯 개를 제공합니다. 후보가 부족하면 확보한 경로만 제공합니다. km당 비용 범위를 세 구간으로 나눠 상대 난이도를 구분하고, 같은 난이도 안에서 목표 일치 항목 수, 전체 회전 횟수, 낮은 km당 비용 순서로 우선합니다.</a:t>
            </a:r>
          </a:p>
          <a:p xmlns:a="http://schemas.openxmlformats.org/drawingml/2006/main">
            <a:r>
              <a:t/>
            </a:r>
          </a:p>
          <a:p xmlns:a="http://schemas.openxmlformats.org/drawingml/2006/main">
            <a:r>
              <a:t>출처: 차근차근 아이디어 기획서 최종본(사용자 제공), 관련 절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기획서에 제시된 자료를 도로 지도, 교통량, 사고 위치 정보로 구분했습니다. 대구 사례에는 View-T 2024년 도로 지도와 추정교통량, TAAS 2024년 대구 사고 위치 자료를 사용합니다. 한국도로공사 차량통행지표와 경북대 첨단기술원 ITS 자료는 기획서에서 미개방 자료로 소개하며 이용 범위와 조건을 확인할 계획입니다. 이 두 자료의 연도는 기획서에 명시되어 있지 않습니다. 도로 지도와 교통량의 출처는 한국교통연구원 View-T, 사고 위치 자료의 출처는 한국도로교통공단 TAAS입니다.</a:t>
            </a:r>
          </a:p>
          <a:p xmlns:a="http://schemas.openxmlformats.org/drawingml/2006/main">
            <a:r>
              <a:t/>
            </a:r>
          </a:p>
          <a:p xmlns:a="http://schemas.openxmlformats.org/drawingml/2006/main">
            <a:r>
              <a:t>출처: 차근차근 아이디어 기획서 최종본(사용자 제공), 관련 절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비용은 비교 점수입니다. 차로 기본, 선호와 연습 조정, 교통량, 사고, 회전과 재주행 비용을 더합니다. 실제 주행 길이에 따라 합산한 다음 경로 전체 거리로 나눕니다. 선호·목표 조정이 사고 가산이나 제외 기준을 바꾸지 않도록 설계합니다. 자료가 없는 사고는 계산상 0건, 교통량은 추가 비용 0으로 처리하지만 무사고나 낮은 통행량으로 설명하지 않습니다. 적용 거리 비율을 함께 보여줍니다.</a:t>
            </a:r>
          </a:p>
          <a:p xmlns:a="http://schemas.openxmlformats.org/drawingml/2006/main">
            <a:r>
              <a:t/>
            </a:r>
          </a:p>
          <a:p xmlns:a="http://schemas.openxmlformats.org/drawingml/2006/main">
            <a:r>
              <a:t>출처: 차근차근 아이디어 기획서 최종본(사용자 제공), 관련 절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N은 최근 5년 연평균 사고건수이고 r은 N을 도로 구간의 전체 길이로 나눈 밀도입니다. 가산 계산에서는 N이 2건 이하이면 N을, 그보다 크면 r을 사용합니다. x를 2로 나누고 올림한 k를 기준으로 1.2의 k승을 적용합니다. 연평균 12건 이상이거나, 2건을 초과하면서 밀도 30건/km 이상이면 탐색에서 제외합니다. 이 기준은 공식 위험등급이 아닌 서비스 정책 제안입니다. 대구 2024년 사례에서는 전체 3,743개 중 106개, 2.83%가 두 조건의 합집합에 해당합니다.</a:t>
            </a:r>
          </a:p>
          <a:p xmlns:a="http://schemas.openxmlformats.org/drawingml/2006/main">
            <a:r>
              <a:t/>
            </a:r>
          </a:p>
          <a:p xmlns:a="http://schemas.openxmlformats.org/drawingml/2006/main">
            <a:r>
              <a:t>출처: 차근차근 아이디어 기획서 최종본(사용자 제공), 관련 절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평일 AADT는 연평균 일 교통량으로 기획서에서 정의합니다. 차로당 값은 평일 AADT를 해당 구간의 차로 수로 나눈 것으로 실제 개별 차로 관측값이 아닙니다. 같은 지역의 최댓값으로 나눈 상대값 q를 비용에 반영합니다. 범안로는 월배로보다 전체 평일 교통량이 조금 적지만 차로당 값은 더 큽니다. 따라서 도로 전체 교통량만으로 비교하지 않고 차로 수를 함께 확인합니다. 네 도로는 선택한 구간의 계산 예시이고 추천 순위가 아닙니다.</a:t>
            </a:r>
          </a:p>
          <a:p xmlns:a="http://schemas.openxmlformats.org/drawingml/2006/main">
            <a:r>
              <a:t/>
            </a:r>
          </a:p>
          <a:p xmlns:a="http://schemas.openxmlformats.org/drawingml/2006/main">
            <a:r>
              <a:t>출처: 차근차근 아이디어 기획서 최종본(사용자 제공), 관련 절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대구 현충로 인근의 같은 출발 위치에서 5~10km 순환형과 좌회전 연습을 가정한 세 후보입니다. 원 기획서의 지도와 동일한 A, B, C 후보를 보여줍니다. 후보끼리 최대 중첩 비율은 32.70%로 제안하는 50% 미만 기준을 만족하는 계산 예시입니다. 실제 신호와 표지, 실시간 통행 가능성은 별도 확인이 필요합니다.</a:t>
            </a:r>
          </a:p>
          <a:p xmlns:a="http://schemas.openxmlformats.org/drawingml/2006/main">
            <a:r>
              <a:t/>
            </a:r>
          </a:p>
          <a:p xmlns:a="http://schemas.openxmlformats.org/drawingml/2006/main">
            <a:r>
              <a:t>출처: 차근차근 아이디어 기획서 최종본(사용자 제공), 관련 절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후보의 km당 비용은 B, C, A 순으로 낮습니다. 기획서의 반올림 전 거리로 산정한 값을 유지했습니다. 비용 범위를 세 구간으로 나누면 B와 C는 쉬움, A는 어려움입니다. 쉬움 그룹 안에서 모두 좌회전 목표에 일치하며, B의 회전 합계 10회가 C의 8회보다 많고 좌회전도 7회로 많아 우선 제안할 수 있습니다. B의 총비용은 더 높지만 주행거리당 비용은 가장 낮습니다. 사고 자료 적용 거리는 92.46%이며 나머지를 실제 무사고로 해석하지 않습니다.</a:t>
            </a:r>
          </a:p>
          <a:p xmlns:a="http://schemas.openxmlformats.org/drawingml/2006/main">
            <a:r>
              <a:t/>
            </a:r>
          </a:p>
          <a:p xmlns:a="http://schemas.openxmlformats.org/drawingml/2006/main">
            <a:r>
              <a:t>출처: 차근차근 아이디어 기획서 최종본(사용자 제공), 관련 절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서비스의 기대효과는 목표와 도로 정보를 함께 비교해 경로를 선택하는 데 있습니다. 원하는 운전 상황을 미리 이해하고 부담을 조절하도록 돕고, 보호자와 같은 정보를 공유하며 연습 계획을 논의할 수 있습니다. 저장한 경로에서 거리와 목표를 바꾸는 반복 연습을 지원합니다. 효과는 후보 차이와 설명의 이해도, 목표 적합성, 조건 변경의 편의성을 중심으로 살펴볼 계획입니다. 사고 감소나 숙련도 향상을 확정된 효과로 제시하지 않습니다.</a:t>
            </a:r>
          </a:p>
          <a:p xmlns:a="http://schemas.openxmlformats.org/drawingml/2006/main">
            <a:r>
              <a:t/>
            </a:r>
          </a:p>
          <a:p xmlns:a="http://schemas.openxmlformats.org/drawingml/2006/main">
            <a:r>
              <a:t>출처: 차근차근 아이디어 기획서 최종본(사용자 제공), 관련 절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자료가 확대되면 사고 심각도, 차종별 특성, 실시간 교통 정보를 보완하는 방안을 검토합니다. 전국 서비스에서는 지역별 자료 기간과 적용 범위를 안내합니다. 선택한 경로의 출발·경유·도착점을 외부 내비게이션에 전달하는 연계도 제안하지만 외부 서비스에서 경로를 재계산할 수 있으므로 연계 방식은 검토가 필요합니다. 차근차근은 이용자가 원하는 연습 경험을 이해하고 선택하도록 돕는 것을 지향합니다.</a:t>
            </a:r>
          </a:p>
          <a:p xmlns:a="http://schemas.openxmlformats.org/drawingml/2006/main">
            <a:r>
              <a:t/>
            </a:r>
          </a:p>
          <a:p xmlns:a="http://schemas.openxmlformats.org/drawingml/2006/main">
            <a:r>
              <a:t>출처: 차근차근 아이디어 기획서 최종본(사용자 제공), 관련 절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차로 기본 계수는 미터당 점수입니다. 선호하지 않는 차로에는 거리당 3점을 더합니다. 좁은 도로 목표는 1차로 구간에 거리당 0.75점을 낮춥니다. 교차로 연습은 출발 연결점에 서로 다른 인접 연결점이 세 개 이상일 때 차로 기본의 15%를 낮춥니다. 회전은 선택한 목표에 대해 70% 낮추고, 유턴 연습 순환형에서 귀환 경로가 외향 경로를 반대로 지나는 재주행에 거리당 3점을 더합니다.</a:t>
            </a:r>
          </a:p>
          <a:p xmlns:a="http://schemas.openxmlformats.org/drawingml/2006/main">
            <a:r>
              <a:t/>
            </a:r>
          </a:p>
          <a:p xmlns:a="http://schemas.openxmlformats.org/drawingml/2006/main">
            <a:r>
              <a:t>출처: 차근차근 아이디어 기획서 최종본(사용자 제공), 관련 절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비용 B는 차로 기본과 교통량 비용의 합입니다. 선호·연습 조정과 회전·재주행 비용은 포함하지 않습니다. N이 2 이하이면 x=N, 그보다 크면 x=r이고 k는 x/2를 올림합니다. 추가 비용은 B 곱하기 1.2의 k승에서 1을 뺀 값입니다. 표는 B를 미터당 1점으로 가정한 계산 예시이며 관측된 경로 비용이 아닙니다. 사고 1·2건은 실제 밀도와 비용 계산용 값이 다름을 구분하고, 제외 조건은 실제 밀도로 먼저 판단합니다.</a:t>
            </a:r>
          </a:p>
          <a:p xmlns:a="http://schemas.openxmlformats.org/drawingml/2006/main">
            <a:r>
              <a:t/>
            </a:r>
          </a:p>
          <a:p xmlns:a="http://schemas.openxmlformats.org/drawingml/2006/main">
            <a:r>
              <a:t>출처: 차근차근 아이디어 기획서 최종본(사용자 제공), 관련 절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ef1775248d48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3948e1dc4845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c33c39a1fd4f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2a4f82cfa54b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93a0429c9143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e32148d8bd40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1C6DF9-CCE0-49A8-B91E-C8572FE4B4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0687C8-CE12-44FB-BEBC-38AC6674E0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628EE2-4E3A-4D24-BF7A-4F997001EE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21BE87-ED37-41E0-8673-DC9463067C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3B44BC-D56C-483D-81CC-67464084EA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AF1F93-9CE2-4AE3-98F3-D1EB5A1EB5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579F49-C5CB-42C9-970B-CF9E429A0C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B56F0A-84C1-4FBC-88CE-6F271ADDAA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D6C554-27A0-4156-930B-A37C428402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17D2D4-904F-4C45-9941-92F17FA824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8c20f0260348da" /><Relationship Type="http://schemas.openxmlformats.org/officeDocument/2006/relationships/slideLayout" Target="/ppt/slideLayouts/slideLayout1.xml" Id="R0ae987662be64a7e" /><Relationship Type="http://schemas.openxmlformats.org/officeDocument/2006/relationships/slideLayout" Target="/ppt/slideLayouts/slideLayout2.xml" Id="Rafe9e43607cc4104" /><Relationship Type="http://schemas.openxmlformats.org/officeDocument/2006/relationships/slideLayout" Target="/ppt/slideLayouts/slideLayout3.xml" Id="R7184cd1be1064866" /><Relationship Type="http://schemas.openxmlformats.org/officeDocument/2006/relationships/slideLayout" Target="/ppt/slideLayouts/slideLayout4.xml" Id="R6e78fe1da6fe4410" /><Relationship Type="http://schemas.openxmlformats.org/officeDocument/2006/relationships/slideLayout" Target="/ppt/slideLayouts/slideLayout5.xml" Id="R15fe4c76ec3d4ee8" /><Relationship Type="http://schemas.openxmlformats.org/officeDocument/2006/relationships/slideLayout" Target="/ppt/slideLayouts/slideLayout6.xml" Id="R43e6921cae7d45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e987662be64a7e"/>
    <p:sldLayoutId xmlns:r="http://schemas.openxmlformats.org/officeDocument/2006/relationships" id="2147483650" r:id="Rafe9e43607cc4104"/>
    <p:sldLayoutId xmlns:r="http://schemas.openxmlformats.org/officeDocument/2006/relationships" id="2147483651" r:id="R7184cd1be1064866"/>
    <p:sldLayoutId xmlns:r="http://schemas.openxmlformats.org/officeDocument/2006/relationships" id="2147483652" r:id="R6e78fe1da6fe4410"/>
    <p:sldLayoutId xmlns:r="http://schemas.openxmlformats.org/officeDocument/2006/relationships" id="2147483653" r:id="R15fe4c76ec3d4ee8"/>
    <p:sldLayoutId xmlns:r="http://schemas.openxmlformats.org/officeDocument/2006/relationships" id="2147483654" r:id="R43e6921cae7d45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c2925488f94a17" /><Relationship Type="http://schemas.openxmlformats.org/officeDocument/2006/relationships/notesSlide" Target="/ppt/notesSlides/notesSlide1.xml" Id="R74b0c94ebcc24a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7d60f45edb44d0" /><Relationship Type="http://schemas.openxmlformats.org/officeDocument/2006/relationships/notesSlide" Target="/ppt/notesSlides/notesSlide2.xml" Id="R14da17e9b6c54e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c0d5a99c4b45ba" /><Relationship Type="http://schemas.openxmlformats.org/officeDocument/2006/relationships/notesSlide" Target="/ppt/notesSlides/notesSlide3.xml" Id="R8452a89f854e4b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0fb9b473cf4b25" /><Relationship Type="http://schemas.openxmlformats.org/officeDocument/2006/relationships/notesSlide" Target="/ppt/notesSlides/notesSlide4.xml" Id="Rb89fa2053e2941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90c96b38c74151" /><Relationship Type="http://schemas.openxmlformats.org/officeDocument/2006/relationships/notesSlide" Target="/ppt/notesSlides/notesSlide5.xml" Id="Ra5c6fa78e91243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88679bf69dc4844" /><Relationship Type="http://schemas.openxmlformats.org/officeDocument/2006/relationships/notesSlide" Target="/ppt/notesSlides/notesSlide6.xml" Id="Rbdedff87f964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b3b1cd813a848fa" /><Relationship Type="http://schemas.openxmlformats.org/officeDocument/2006/relationships/notesSlide" Target="/ppt/notesSlides/notesSlide7.xml" Id="R680fdcd6264e41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baaa30d82c46ba" /><Relationship Type="http://schemas.openxmlformats.org/officeDocument/2006/relationships/notesSlide" Target="/ppt/notesSlides/notesSlide8.xml" Id="R7336034c7f9241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f90488901349c5" /><Relationship Type="http://schemas.openxmlformats.org/officeDocument/2006/relationships/notesSlide" Target="/ppt/notesSlides/notesSlide9.xml" Id="Rc7e4bcf527634e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de26946016947a2" /><Relationship Type="http://schemas.openxmlformats.org/officeDocument/2006/relationships/notesSlide" Target="/ppt/notesSlides/notesSlide10.xml" Id="R22204c4590da49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8148675eda499a" /><Relationship Type="http://schemas.openxmlformats.org/officeDocument/2006/relationships/notesSlide" Target="/ppt/notesSlides/notesSlide11.xml" Id="Rd8f3c7f3dd7a48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011e9cd896e4b47" /><Relationship Type="http://schemas.openxmlformats.org/officeDocument/2006/relationships/image" Target="/ppt/media/image.png" Id="R5a80e505d68d4a04" /><Relationship Type="http://schemas.openxmlformats.org/officeDocument/2006/relationships/notesSlide" Target="/ppt/notesSlides/notesSlide12.xml" Id="Rec5bc349e54243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139b79209f34021" /><Relationship Type="http://schemas.openxmlformats.org/officeDocument/2006/relationships/notesSlide" Target="/ppt/notesSlides/notesSlide13.xml" Id="R37b0f884357e42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f8f5d6e1bbc4f8b" /><Relationship Type="http://schemas.openxmlformats.org/officeDocument/2006/relationships/notesSlide" Target="/ppt/notesSlides/notesSlide14.xml" Id="R3ee97c0f11504a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cefc2f50be45c7" /><Relationship Type="http://schemas.openxmlformats.org/officeDocument/2006/relationships/notesSlide" Target="/ppt/notesSlides/notesSlide15.xml" Id="R486be3e49df946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1088c83ee464177" /><Relationship Type="http://schemas.openxmlformats.org/officeDocument/2006/relationships/notesSlide" Target="/ppt/notesSlides/notesSlide16.xml" Id="Rfd1e421786604f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de11f751e24366" /><Relationship Type="http://schemas.openxmlformats.org/officeDocument/2006/relationships/notesSlide" Target="/ppt/notesSlides/notesSlide17.xml" Id="R76cc0fef4ee04394" /></Relationships>
</file>

<file path=ppt/slides/slide1.xml><?xml version="1.0" encoding="utf-8"?>
<p:sld xmlns:p="http://schemas.openxmlformats.org/presentationml/2006/main">
  <p:cSld>
    <p:bg>
      <p:bgPr>
        <a:solidFill xmlns:a="http://schemas.openxmlformats.org/drawingml/2006/main">
          <a:srgbClr val="173B3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8A62E18-441A-4D00-BA1E-3D20827628BF}"/>
              </a:ext>
            </a:extLst>
          </p:cNvPr>
          <p:cNvSpPr>
            <a:spLocks xmlns:a="http://schemas.openxmlformats.org/drawingml/2006/main" noGrp="1"/>
          </p:cNvSpPr>
          <p:nvPr/>
        </p:nvSpPr>
        <p:spPr>
          <a:xfrm xmlns:a="http://schemas.openxmlformats.org/drawingml/2006/main">
            <a:off x="762000" y="1666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FFFF"/>
                </a:solidFill>
                <a:latin typeface="Malgun Gothic"/>
                <a:ea typeface="Malgun Gothic"/>
                <a:cs typeface="Malgun Gothic"/>
              </a:defRPr>
            </a:defPPr>
          </a:lstStyle>
          <a:p xmlns:a="http://schemas.openxmlformats.org/drawingml/2006/main">
            <a:pPr>
              <a:defRPr sz="6300" b="1">
                <a:solidFill>
                  <a:srgbClr val="FFFFFF"/>
                </a:solidFill>
                <a:latin typeface="Malgun Gothic"/>
                <a:ea typeface="Malgun Gothic"/>
                <a:cs typeface="Malgun Gothic"/>
              </a:defRPr>
            </a:pPr>
            <a:r>
              <a:rPr sz="6300" b="1">
                <a:solidFill>
                  <a:srgbClr val="FFFFFF"/>
                </a:solidFill>
                <a:latin typeface="Malgun Gothic"/>
                <a:ea typeface="Malgun Gothic"/>
                <a:cs typeface="Malgun Gothic"/>
              </a:rPr>
              <a:t>차근차근</a:t>
            </a:r>
          </a:p>
        </p:txBody>
      </p:sp>
      <p:sp>
        <p:nvSpPr>
          <p:cNvPr id="2" name="">
            <a:extLst xmlns:a="http://schemas.openxmlformats.org/drawingml/2006/main">
              <a:ext uri="{FF2B5EF4-FFF2-40B4-BE49-F238E27FC236}">
                <a16:creationId xmlns:a16="http://schemas.microsoft.com/office/drawing/2014/main" id="{BE021F2C-C7A0-43E9-875F-6BFCC94F59C3}"/>
              </a:ext>
            </a:extLst>
          </p:cNvPr>
          <p:cNvSpPr>
            <a:spLocks xmlns:a="http://schemas.openxmlformats.org/drawingml/2006/main" noGrp="1"/>
          </p:cNvSpPr>
          <p:nvPr/>
        </p:nvSpPr>
        <p:spPr>
          <a:xfrm xmlns:a="http://schemas.openxmlformats.org/drawingml/2006/main">
            <a:off x="800100" y="3143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FFFFFF"/>
                </a:solidFill>
                <a:latin typeface="Malgun Gothic"/>
                <a:ea typeface="Malgun Gothic"/>
                <a:cs typeface="Malgun Gothic"/>
              </a:defRPr>
            </a:defPPr>
          </a:lstStyle>
          <a:p xmlns:a="http://schemas.openxmlformats.org/drawingml/2006/main">
            <a:pPr>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전국 초보운전자</a:t>
            </a:r>
          </a:p>
          <a:p xmlns:a="http://schemas.openxmlformats.org/drawingml/2006/main">
            <a:pPr>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연습경로 추천 서비스</a:t>
            </a:r>
          </a:p>
        </p:txBody>
      </p:sp>
      <p:sp>
        <p:nvSpPr>
          <p:cNvPr id="3" name="">
            <a:extLst xmlns:a="http://schemas.openxmlformats.org/drawingml/2006/main">
              <a:ext uri="{FF2B5EF4-FFF2-40B4-BE49-F238E27FC236}">
                <a16:creationId xmlns:a16="http://schemas.microsoft.com/office/drawing/2014/main" id="{DE10E11C-20CE-4361-A48C-A622889C75EF}"/>
              </a:ext>
            </a:extLst>
          </p:cNvPr>
          <p:cNvSpPr>
            <a:spLocks xmlns:a="http://schemas.openxmlformats.org/drawingml/2006/main" noGrp="1"/>
          </p:cNvSpPr>
          <p:nvPr/>
        </p:nvSpPr>
        <p:spPr>
          <a:xfrm xmlns:a="http://schemas.openxmlformats.org/drawingml/2006/main">
            <a:off x="800100" y="5334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BDCCD"/>
                </a:solidFill>
                <a:latin typeface="Malgun Gothic"/>
                <a:ea typeface="Malgun Gothic"/>
                <a:cs typeface="Malgun Gothic"/>
              </a:defRPr>
            </a:defPPr>
          </a:lstStyle>
          <a:p xmlns:a="http://schemas.openxmlformats.org/drawingml/2006/main">
            <a:pPr>
              <a:defRPr sz="2025" b="0">
                <a:solidFill>
                  <a:srgbClr val="BBDCCD"/>
                </a:solidFill>
                <a:latin typeface="Malgun Gothic"/>
                <a:ea typeface="Malgun Gothic"/>
                <a:cs typeface="Malgun Gothic"/>
              </a:defRPr>
            </a:pPr>
            <a:r>
              <a:rPr sz="2025" b="0">
                <a:solidFill>
                  <a:srgbClr val="BBDCCD"/>
                </a:solidFill>
                <a:latin typeface="Malgun Gothic"/>
                <a:ea typeface="Malgun Gothic"/>
                <a:cs typeface="Malgun Gothic"/>
              </a:rPr>
              <a:t>연습 목표와 도로 정보를 함께 비교하는 서비스 제안</a:t>
            </a:r>
          </a:p>
        </p:txBody>
      </p:sp>
    </p:spTree>
    <p:extLst>
      <p:ext uri="{BB962C8B-B14F-4D97-AF65-F5344CB8AC3E}">
        <p14:creationId xmlns:p14="http://schemas.microsoft.com/office/powerpoint/2010/main" val="1927400322"/>
      </p:ext>
    </p:extLst>
  </p:cSld>
</p:sld>
</file>

<file path=ppt/slides/slide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CD3A8D-C8E8-45E0-87BF-0C9D5AAFD230}"/>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개요 · 제안 배경</a:t>
            </a:r>
          </a:p>
        </p:txBody>
      </p:sp>
      <p:sp>
        <p:nvSpPr>
          <p:cNvPr id="2" name="">
            <a:extLst xmlns:a="http://schemas.openxmlformats.org/drawingml/2006/main">
              <a:ext uri="{FF2B5EF4-FFF2-40B4-BE49-F238E27FC236}">
                <a16:creationId xmlns:a16="http://schemas.microsoft.com/office/drawing/2014/main" id="{C3D964D0-840F-4C62-B900-FE9B6E4DD853}"/>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EA9030F8-0A7A-43E9-A264-CF7D5F34CE9F}"/>
              </a:ext>
            </a:extLst>
          </p:cNvPr>
          <p:cNvSpPr>
            <a:spLocks xmlns:a="http://schemas.openxmlformats.org/drawingml/2006/main" noGrp="1"/>
          </p:cNvSpPr>
          <p:nvPr/>
        </p:nvSpPr>
        <p:spPr>
          <a:xfrm xmlns:a="http://schemas.openxmlformats.org/drawingml/2006/main">
            <a:off x="609600" y="1666875"/>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B36"/>
                </a:solidFill>
                <a:latin typeface="Malgun Gothic"/>
                <a:ea typeface="Malgun Gothic"/>
                <a:cs typeface="Malgun Gothic"/>
              </a:defRPr>
            </a:defPPr>
          </a:lstStyle>
          <a:p xmlns:a="http://schemas.openxmlformats.org/drawingml/2006/main">
            <a:pPr>
              <a:defRPr sz="3450" b="1">
                <a:solidFill>
                  <a:srgbClr val="173B36"/>
                </a:solidFill>
                <a:latin typeface="Malgun Gothic"/>
                <a:ea typeface="Malgun Gothic"/>
                <a:cs typeface="Malgun Gothic"/>
              </a:defRPr>
            </a:pPr>
            <a:r>
              <a:rPr sz="3450" b="1">
                <a:solidFill>
                  <a:srgbClr val="173B36"/>
                </a:solidFill>
                <a:latin typeface="Malgun Gothic"/>
                <a:ea typeface="Malgun Gothic"/>
                <a:cs typeface="Malgun Gothic"/>
              </a:rPr>
              <a:t>운전 연습의 시작은</a:t>
            </a:r>
          </a:p>
          <a:p xmlns:a="http://schemas.openxmlformats.org/drawingml/2006/main">
            <a:pPr>
              <a:defRPr sz="3450" b="1">
                <a:solidFill>
                  <a:srgbClr val="173B36"/>
                </a:solidFill>
                <a:latin typeface="Malgun Gothic"/>
                <a:ea typeface="Malgun Gothic"/>
                <a:cs typeface="Malgun Gothic"/>
              </a:defRPr>
            </a:pPr>
            <a:r>
              <a:rPr sz="3450" b="1">
                <a:solidFill>
                  <a:srgbClr val="173B36"/>
                </a:solidFill>
                <a:latin typeface="Malgun Gothic"/>
                <a:ea typeface="Malgun Gothic"/>
                <a:cs typeface="Malgun Gothic"/>
              </a:rPr>
              <a:t>경로를 고르는 일</a:t>
            </a:r>
          </a:p>
        </p:txBody>
      </p:sp>
      <p:sp>
        <p:nvSpPr>
          <p:cNvPr id="4" name="">
            <a:extLst xmlns:a="http://schemas.openxmlformats.org/drawingml/2006/main">
              <a:ext uri="{FF2B5EF4-FFF2-40B4-BE49-F238E27FC236}">
                <a16:creationId xmlns:a16="http://schemas.microsoft.com/office/drawing/2014/main" id="{EEA0E4FB-634A-4A53-920C-7A9FB7961FD3}"/>
              </a:ext>
            </a:extLst>
          </p:cNvPr>
          <p:cNvSpPr>
            <a:spLocks xmlns:a="http://schemas.openxmlformats.org/drawingml/2006/main" noGrp="1"/>
          </p:cNvSpPr>
          <p:nvPr/>
        </p:nvSpPr>
        <p:spPr>
          <a:xfrm xmlns:a="http://schemas.openxmlformats.org/drawingml/2006/main">
            <a:off x="6477000" y="17145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거리·소요시간 중심의 정보</a:t>
            </a:r>
          </a:p>
        </p:txBody>
      </p:sp>
      <p:sp>
        <p:nvSpPr>
          <p:cNvPr id="5" name="">
            <a:extLst xmlns:a="http://schemas.openxmlformats.org/drawingml/2006/main">
              <a:ext uri="{FF2B5EF4-FFF2-40B4-BE49-F238E27FC236}">
                <a16:creationId xmlns:a16="http://schemas.microsoft.com/office/drawing/2014/main" id="{033FAF7F-E68C-4A7A-AC9F-DED8EB354B19}"/>
              </a:ext>
            </a:extLst>
          </p:cNvPr>
          <p:cNvSpPr>
            <a:spLocks xmlns:a="http://schemas.openxmlformats.org/drawingml/2006/main" noGrp="1"/>
          </p:cNvSpPr>
          <p:nvPr/>
        </p:nvSpPr>
        <p:spPr>
          <a:xfrm xmlns:a="http://schemas.openxmlformats.org/drawingml/2006/main">
            <a:off x="6477000" y="22860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회전 횟수와 도로 구조가 달라지면</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같은 거리에서도 부담이 달라진다.</a:t>
            </a:r>
          </a:p>
        </p:txBody>
      </p:sp>
      <p:sp>
        <p:nvSpPr>
          <p:cNvPr id="6" name="">
            <a:extLst xmlns:a="http://schemas.openxmlformats.org/drawingml/2006/main">
              <a:ext uri="{FF2B5EF4-FFF2-40B4-BE49-F238E27FC236}">
                <a16:creationId xmlns:a16="http://schemas.microsoft.com/office/drawing/2014/main" id="{4B4C6869-9778-4C5B-8737-9BDC26800BA2}"/>
              </a:ext>
            </a:extLst>
          </p:cNvPr>
          <p:cNvSpPr>
            <a:spLocks xmlns:a="http://schemas.openxmlformats.org/drawingml/2006/main" noGrp="1"/>
          </p:cNvSpPr>
          <p:nvPr/>
        </p:nvSpPr>
        <p:spPr>
          <a:xfrm xmlns:a="http://schemas.openxmlformats.org/drawingml/2006/main">
            <a:off x="6477000" y="36671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개인 경험에 의존하는 조언</a:t>
            </a:r>
          </a:p>
        </p:txBody>
      </p:sp>
      <p:sp>
        <p:nvSpPr>
          <p:cNvPr id="7" name="">
            <a:extLst xmlns:a="http://schemas.openxmlformats.org/drawingml/2006/main">
              <a:ext uri="{FF2B5EF4-FFF2-40B4-BE49-F238E27FC236}">
                <a16:creationId xmlns:a16="http://schemas.microsoft.com/office/drawing/2014/main" id="{E8DED1C0-8D18-4144-8CCB-E194D7B52E90}"/>
              </a:ext>
            </a:extLst>
          </p:cNvPr>
          <p:cNvSpPr>
            <a:spLocks xmlns:a="http://schemas.openxmlformats.org/drawingml/2006/main" noGrp="1"/>
          </p:cNvSpPr>
          <p:nvPr/>
        </p:nvSpPr>
        <p:spPr>
          <a:xfrm xmlns:a="http://schemas.openxmlformats.org/drawingml/2006/main">
            <a:off x="6477000" y="4238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지인의 익숙한 도로가 나의 숙련도와</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연습 목표에도 맞는지는 판단하기 어렵다.</a:t>
            </a:r>
          </a:p>
        </p:txBody>
      </p:sp>
      <p:sp>
        <p:nvSpPr>
          <p:cNvPr id="8" name="">
            <a:extLst xmlns:a="http://schemas.openxmlformats.org/drawingml/2006/main">
              <a:ext uri="{FF2B5EF4-FFF2-40B4-BE49-F238E27FC236}">
                <a16:creationId xmlns:a16="http://schemas.microsoft.com/office/drawing/2014/main" id="{7BF496F5-2A31-43C4-A759-A47FC8F2A107}"/>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연습 계획에는 거리와 함께 회전·도로 구조·교통량·사고 정보를 살펴볼 기준이 필요하다.</a:t>
            </a:r>
          </a:p>
        </p:txBody>
      </p:sp>
    </p:spTree>
    <p:extLst>
      <p:ext uri="{BB962C8B-B14F-4D97-AF65-F5344CB8AC3E}">
        <p14:creationId xmlns:p14="http://schemas.microsoft.com/office/powerpoint/2010/main" val="1028187206"/>
      </p:ext>
    </p:extLst>
  </p:cSld>
</p:sld>
</file>

<file path=ppt/slides/slide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F3E589-D0DF-4674-A3A5-F07D47FCD34B}"/>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개요 · 주제 선정 배경</a:t>
            </a:r>
          </a:p>
        </p:txBody>
      </p:sp>
      <p:sp>
        <p:nvSpPr>
          <p:cNvPr id="2" name="">
            <a:extLst xmlns:a="http://schemas.openxmlformats.org/drawingml/2006/main">
              <a:ext uri="{FF2B5EF4-FFF2-40B4-BE49-F238E27FC236}">
                <a16:creationId xmlns:a16="http://schemas.microsoft.com/office/drawing/2014/main" id="{8B851DB7-2C71-4741-9FCE-DEDF199B4AE0}"/>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05FA3763-2C20-43CC-9298-33CBED1B8339}"/>
              </a:ext>
            </a:extLst>
          </p:cNvPr>
          <p:cNvSpPr>
            <a:spLocks xmlns:a="http://schemas.openxmlformats.org/drawingml/2006/main" noGrp="1"/>
          </p:cNvSpPr>
          <p:nvPr/>
        </p:nvSpPr>
        <p:spPr>
          <a:xfrm xmlns:a="http://schemas.openxmlformats.org/drawingml/2006/main">
            <a:off x="609600" y="16192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주요 사용자</a:t>
            </a:r>
          </a:p>
        </p:txBody>
      </p:sp>
      <p:sp>
        <p:nvSpPr>
          <p:cNvPr id="4" name="">
            <a:extLst xmlns:a="http://schemas.openxmlformats.org/drawingml/2006/main">
              <a:ext uri="{FF2B5EF4-FFF2-40B4-BE49-F238E27FC236}">
                <a16:creationId xmlns:a16="http://schemas.microsoft.com/office/drawing/2014/main" id="{06B876BA-015C-4881-B1EA-9001E4561278}"/>
              </a:ext>
            </a:extLst>
          </p:cNvPr>
          <p:cNvSpPr>
            <a:spLocks xmlns:a="http://schemas.openxmlformats.org/drawingml/2006/main" noGrp="1"/>
          </p:cNvSpPr>
          <p:nvPr/>
        </p:nvSpPr>
        <p:spPr>
          <a:xfrm xmlns:a="http://schemas.openxmlformats.org/drawingml/2006/main">
            <a:off x="609600" y="21907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초보운전자와 장롱면허 운전자</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운전을 다시 시작하는 사람</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새로운 생활권의 도로에 적응하는 사람</a:t>
            </a:r>
          </a:p>
        </p:txBody>
      </p:sp>
      <p:sp>
        <p:nvSpPr>
          <p:cNvPr id="5" name="">
            <a:extLst xmlns:a="http://schemas.openxmlformats.org/drawingml/2006/main">
              <a:ext uri="{FF2B5EF4-FFF2-40B4-BE49-F238E27FC236}">
                <a16:creationId xmlns:a16="http://schemas.microsoft.com/office/drawing/2014/main" id="{C6C473DA-9C90-4B6A-9571-5567C89C0611}"/>
              </a:ext>
            </a:extLst>
          </p:cNvPr>
          <p:cNvSpPr>
            <a:spLocks xmlns:a="http://schemas.openxmlformats.org/drawingml/2006/main" noGrp="1"/>
          </p:cNvSpPr>
          <p:nvPr/>
        </p:nvSpPr>
        <p:spPr>
          <a:xfrm xmlns:a="http://schemas.openxmlformats.org/drawingml/2006/main">
            <a:off x="6381750" y="16192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선정한 서비스 방향</a:t>
            </a:r>
          </a:p>
        </p:txBody>
      </p:sp>
      <p:sp>
        <p:nvSpPr>
          <p:cNvPr id="6" name="">
            <a:extLst xmlns:a="http://schemas.openxmlformats.org/drawingml/2006/main">
              <a:ext uri="{FF2B5EF4-FFF2-40B4-BE49-F238E27FC236}">
                <a16:creationId xmlns:a16="http://schemas.microsoft.com/office/drawing/2014/main" id="{5FA42806-DD2B-4199-816B-FBD0D8906298}"/>
              </a:ext>
            </a:extLst>
          </p:cNvPr>
          <p:cNvSpPr>
            <a:spLocks xmlns:a="http://schemas.openxmlformats.org/drawingml/2006/main" noGrp="1"/>
          </p:cNvSpPr>
          <p:nvPr/>
        </p:nvSpPr>
        <p:spPr>
          <a:xfrm xmlns:a="http://schemas.openxmlformats.org/drawingml/2006/main">
            <a:off x="6381750" y="219075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원하는 운전 경험을 추천의 기준으로 삼고</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공개자료의 도로 정보를 함께 제공한다.</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이용자가 차이를 이해한 뒤 직접 선택한다.</a:t>
            </a:r>
          </a:p>
        </p:txBody>
      </p:sp>
      <p:sp>
        <p:nvSpPr>
          <p:cNvPr id="7" name="">
            <a:extLst xmlns:a="http://schemas.openxmlformats.org/drawingml/2006/main">
              <a:ext uri="{FF2B5EF4-FFF2-40B4-BE49-F238E27FC236}">
                <a16:creationId xmlns:a16="http://schemas.microsoft.com/office/drawing/2014/main" id="{EDC4152A-F508-452F-9B35-1BDFCF60C415}"/>
              </a:ext>
            </a:extLst>
          </p:cNvPr>
          <p:cNvSpPr>
            <a:spLocks xmlns:a="http://schemas.openxmlformats.org/drawingml/2006/main" noGrp="1"/>
          </p:cNvSpPr>
          <p:nvPr/>
        </p:nvSpPr>
        <p:spPr>
          <a:xfrm xmlns:a="http://schemas.openxmlformats.org/drawingml/2006/main">
            <a:off x="609600" y="42386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87B60"/>
                </a:solidFill>
                <a:latin typeface="Malgun Gothic"/>
                <a:ea typeface="Malgun Gothic"/>
                <a:cs typeface="Malgun Gothic"/>
              </a:defRPr>
            </a:defPPr>
          </a:lstStyle>
          <a:p xmlns:a="http://schemas.openxmlformats.org/drawingml/2006/main">
            <a:pPr>
              <a:defRPr sz="3000" b="1">
                <a:solidFill>
                  <a:srgbClr val="287B60"/>
                </a:solidFill>
                <a:latin typeface="Malgun Gothic"/>
                <a:ea typeface="Malgun Gothic"/>
                <a:cs typeface="Malgun Gothic"/>
              </a:defRPr>
            </a:pPr>
            <a:r>
              <a:rPr sz="3000" b="1">
                <a:solidFill>
                  <a:srgbClr val="287B60"/>
                </a:solidFill>
                <a:latin typeface="Malgun Gothic"/>
                <a:ea typeface="Malgun Gothic"/>
                <a:cs typeface="Malgun Gothic"/>
              </a:rPr>
              <a:t>“좌회전을 여러 번 연습하고 싶어요”</a:t>
            </a:r>
          </a:p>
        </p:txBody>
      </p:sp>
      <p:sp>
        <p:nvSpPr>
          <p:cNvPr id="8" name="">
            <a:extLst xmlns:a="http://schemas.openxmlformats.org/drawingml/2006/main">
              <a:ext uri="{FF2B5EF4-FFF2-40B4-BE49-F238E27FC236}">
                <a16:creationId xmlns:a16="http://schemas.microsoft.com/office/drawing/2014/main" id="{031247BF-F583-4FFA-933B-BFF644E19E8F}"/>
              </a:ext>
            </a:extLst>
          </p:cNvPr>
          <p:cNvSpPr>
            <a:spLocks xmlns:a="http://schemas.openxmlformats.org/drawingml/2006/main" noGrp="1"/>
          </p:cNvSpPr>
          <p:nvPr/>
        </p:nvSpPr>
        <p:spPr>
          <a:xfrm xmlns:a="http://schemas.openxmlformats.org/drawingml/2006/main">
            <a:off x="609600" y="50958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사용자의 요구를 실제 경로의 회전·거리·주행 부담과 연결한다.</a:t>
            </a:r>
          </a:p>
        </p:txBody>
      </p:sp>
    </p:spTree>
    <p:extLst>
      <p:ext uri="{BB962C8B-B14F-4D97-AF65-F5344CB8AC3E}">
        <p14:creationId xmlns:p14="http://schemas.microsoft.com/office/powerpoint/2010/main" val="462661800"/>
      </p:ext>
    </p:extLst>
  </p:cSld>
</p:sld>
</file>

<file path=ppt/slides/slide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A3EDD7-3515-4D7A-9DB6-5EF8BDB31E83}"/>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서비스 개요와 차별점</a:t>
            </a:r>
          </a:p>
        </p:txBody>
      </p:sp>
      <p:sp>
        <p:nvSpPr>
          <p:cNvPr id="2" name="">
            <a:extLst xmlns:a="http://schemas.openxmlformats.org/drawingml/2006/main">
              <a:ext uri="{FF2B5EF4-FFF2-40B4-BE49-F238E27FC236}">
                <a16:creationId xmlns:a16="http://schemas.microsoft.com/office/drawing/2014/main" id="{56E3396A-295C-4B42-8BAB-D144AFACD142}"/>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A9A8A8DF-2953-48C1-A238-A8471A5C3343}"/>
              </a:ext>
            </a:extLst>
          </p:cNvPr>
          <p:cNvSpPr>
            <a:spLocks xmlns:a="http://schemas.openxmlformats.org/drawingml/2006/main" noGrp="1"/>
          </p:cNvSpPr>
          <p:nvPr/>
        </p:nvSpPr>
        <p:spPr>
          <a:xfrm xmlns:a="http://schemas.openxmlformats.org/drawingml/2006/main">
            <a:off x="609600" y="1571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87B60"/>
                </a:solidFill>
                <a:latin typeface="Malgun Gothic"/>
                <a:ea typeface="Malgun Gothic"/>
                <a:cs typeface="Malgun Gothic"/>
              </a:defRPr>
            </a:defPPr>
          </a:lstStyle>
          <a:p xmlns:a="http://schemas.openxmlformats.org/drawingml/2006/main">
            <a:pPr>
              <a:defRPr sz="2925" b="1">
                <a:solidFill>
                  <a:srgbClr val="287B60"/>
                </a:solidFill>
                <a:latin typeface="Malgun Gothic"/>
                <a:ea typeface="Malgun Gothic"/>
                <a:cs typeface="Malgun Gothic"/>
              </a:defRPr>
            </a:pPr>
            <a:r>
              <a:rPr sz="2925" b="1">
                <a:solidFill>
                  <a:srgbClr val="287B60"/>
                </a:solidFill>
                <a:latin typeface="Malgun Gothic"/>
                <a:ea typeface="Malgun Gothic"/>
                <a:cs typeface="Malgun Gothic"/>
              </a:rPr>
              <a:t>전국 대상의 연습경로 추천</a:t>
            </a:r>
          </a:p>
        </p:txBody>
      </p:sp>
      <p:graphicFrame>
        <p:nvGraphicFramePr>
          <p:cNvPr id="4" name="">
            <a:extLst xmlns:a="http://schemas.openxmlformats.org/drawingml/2006/main">
              <a:ext uri="{FF2B5EF4-FFF2-40B4-BE49-F238E27FC236}">
                <a16:creationId xmlns:a16="http://schemas.microsoft.com/office/drawing/2014/main" id="{5DE7089B-E41B-4D54-90F2-4F1A37967DB4}"/>
              </a:ext>
            </a:extLst>
          </p:cNvPr>
          <p:cNvGraphicFramePr/>
          <p:nvPr/>
        </p:nvGraphicFramePr>
        <p:xfrm>
          <a:off xmlns:a="http://schemas.openxmlformats.org/drawingml/2006/main" x="609600" y="2524125"/>
          <a:ext xmlns:a="http://schemas.openxmlformats.org/drawingml/2006/main" cx="10972800" cy="2762250"/>
        </p:xfrm>
        <a:graphic xmlns:a="http://schemas.openxmlformats.org/drawingml/2006/main">
          <a:graphicData uri="http://schemas.openxmlformats.org/drawingml/2006/table">
            <a:tbl>
              <a:tblPr/>
              <a:tblGrid>
                <a:gridCol w="2190750"/>
                <a:gridCol w="8782050"/>
              </a:tblGrid>
              <a:tr h="552450">
                <a:tc>
                  <a:txBody>
                    <a:bodyPr/>
                    <a:lstStyle/>
                    <a:p>
                      <a:r>
                        <a:rPr sz="1875" b="1">
                          <a:solidFill>
                            <a:srgbClr val="FFFFFF"/>
                          </a:solidFill>
                          <a:latin typeface="Malgun Gothic"/>
                          <a:ea typeface="Malgun Gothic"/>
                          <a:cs typeface="Malgun Gothic"/>
                        </a:rPr>
                        <a:t>비교 기준</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875" b="1">
                          <a:solidFill>
                            <a:srgbClr val="FFFFFF"/>
                          </a:solidFill>
                          <a:latin typeface="Malgun Gothic"/>
                          <a:ea typeface="Malgun Gothic"/>
                          <a:cs typeface="Malgun Gothic"/>
                        </a:rPr>
                        <a:t>서비스 설계</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552450">
                <a:tc>
                  <a:txBody>
                    <a:bodyPr/>
                    <a:lstStyle/>
                    <a:p>
                      <a:r>
                        <a:rPr sz="1875" b="0">
                          <a:solidFill>
                            <a:srgbClr val="173B36"/>
                          </a:solidFill>
                          <a:latin typeface="Malgun Gothic"/>
                          <a:ea typeface="Malgun Gothic"/>
                          <a:cs typeface="Malgun Gothic"/>
                        </a:rPr>
                        <a:t>연습 목표</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875" b="0">
                          <a:solidFill>
                            <a:srgbClr val="173B36"/>
                          </a:solidFill>
                          <a:latin typeface="Malgun Gothic"/>
                          <a:ea typeface="Malgun Gothic"/>
                          <a:cs typeface="Malgun Gothic"/>
                        </a:rPr>
                        <a:t>좌회전·교차로 통과·좁은 도로 등의 경험 반영</a:t>
                      </a:r>
                    </a:p>
                  </a:txBody>
                  <a:tcPr marL="91440" marR="91440" marT="45720" marB="45720">
                    <a:lnR w="9525">
                      <a:solidFill>
                        <a:srgbClr val="D7E1DB"/>
                      </a:solidFill>
                      <a:prstDash val="solid"/>
                    </a:lnR>
                    <a:lnB w="9525">
                      <a:solidFill>
                        <a:srgbClr val="D7E1DB"/>
                      </a:solidFill>
                      <a:prstDash val="solid"/>
                    </a:lnB>
                    <a:solidFill>
                      <a:srgbClr val="FFFFFF"/>
                    </a:solidFill>
                  </a:tcPr>
                </a:tc>
              </a:tr>
              <a:tr h="552450">
                <a:tc>
                  <a:txBody>
                    <a:bodyPr/>
                    <a:lstStyle/>
                    <a:p>
                      <a:r>
                        <a:rPr sz="1875" b="0">
                          <a:solidFill>
                            <a:srgbClr val="173B36"/>
                          </a:solidFill>
                          <a:latin typeface="Malgun Gothic"/>
                          <a:ea typeface="Malgun Gothic"/>
                          <a:cs typeface="Malgun Gothic"/>
                        </a:rPr>
                        <a:t>후보 정보</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875" b="0">
                          <a:solidFill>
                            <a:srgbClr val="173B36"/>
                          </a:solidFill>
                          <a:latin typeface="Malgun Gothic"/>
                          <a:ea typeface="Malgun Gothic"/>
                          <a:cs typeface="Malgun Gothic"/>
                        </a:rPr>
                        <a:t>지도, 거리, 회전 횟수, 차로 수, 교통량과 사고 정보</a:t>
                      </a:r>
                    </a:p>
                  </a:txBody>
                  <a:tcPr marL="91440" marR="91440" marT="45720" marB="45720">
                    <a:lnR w="9525">
                      <a:solidFill>
                        <a:srgbClr val="D7E1DB"/>
                      </a:solidFill>
                      <a:prstDash val="solid"/>
                    </a:lnR>
                    <a:lnB w="9525">
                      <a:solidFill>
                        <a:srgbClr val="D7E1DB"/>
                      </a:solidFill>
                      <a:prstDash val="solid"/>
                    </a:lnB>
                    <a:solidFill>
                      <a:srgbClr val="E7F0E9"/>
                    </a:solidFill>
                  </a:tcPr>
                </a:tc>
              </a:tr>
              <a:tr h="552450">
                <a:tc>
                  <a:txBody>
                    <a:bodyPr/>
                    <a:lstStyle/>
                    <a:p>
                      <a:r>
                        <a:rPr sz="1875" b="0">
                          <a:solidFill>
                            <a:srgbClr val="173B36"/>
                          </a:solidFill>
                          <a:latin typeface="Malgun Gothic"/>
                          <a:ea typeface="Malgun Gothic"/>
                          <a:cs typeface="Malgun Gothic"/>
                        </a:rPr>
                        <a:t>선택 방식</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875" b="0">
                          <a:solidFill>
                            <a:srgbClr val="173B36"/>
                          </a:solidFill>
                          <a:latin typeface="Malgun Gothic"/>
                          <a:ea typeface="Malgun Gothic"/>
                          <a:cs typeface="Malgun Gothic"/>
                        </a:rPr>
                        <a:t>여러 후보의 특징과 추천 이유를 확인하고 직접 선택</a:t>
                      </a:r>
                    </a:p>
                  </a:txBody>
                  <a:tcPr marL="91440" marR="91440" marT="45720" marB="45720">
                    <a:lnR w="9525">
                      <a:solidFill>
                        <a:srgbClr val="D7E1DB"/>
                      </a:solidFill>
                      <a:prstDash val="solid"/>
                    </a:lnR>
                    <a:lnB w="9525">
                      <a:solidFill>
                        <a:srgbClr val="D7E1DB"/>
                      </a:solidFill>
                      <a:prstDash val="solid"/>
                    </a:lnB>
                    <a:solidFill>
                      <a:srgbClr val="FFFFFF"/>
                    </a:solidFill>
                  </a:tcPr>
                </a:tc>
              </a:tr>
              <a:tr h="552450">
                <a:tc>
                  <a:txBody>
                    <a:bodyPr/>
                    <a:lstStyle/>
                    <a:p>
                      <a:r>
                        <a:rPr sz="1875" b="0">
                          <a:solidFill>
                            <a:srgbClr val="173B36"/>
                          </a:solidFill>
                          <a:latin typeface="Malgun Gothic"/>
                          <a:ea typeface="Malgun Gothic"/>
                          <a:cs typeface="Malgun Gothic"/>
                        </a:rPr>
                        <a:t>반복 이용</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875" b="0">
                          <a:solidFill>
                            <a:srgbClr val="173B36"/>
                          </a:solidFill>
                          <a:latin typeface="Malgun Gothic"/>
                          <a:ea typeface="Malgun Gothic"/>
                          <a:cs typeface="Malgun Gothic"/>
                        </a:rPr>
                        <a:t>경로를 저장하고 거리·목표를 바꿔 다음 연습 계획</a:t>
                      </a:r>
                    </a:p>
                  </a:txBody>
                  <a:tcPr marL="91440" marR="91440" marT="45720" marB="45720">
                    <a:lnR w="9525">
                      <a:solidFill>
                        <a:srgbClr val="D7E1DB"/>
                      </a:solidFill>
                      <a:prstDash val="solid"/>
                    </a:lnR>
                    <a:lnB w="9525">
                      <a:solidFill>
                        <a:srgbClr val="D7E1DB"/>
                      </a:solidFill>
                      <a:prstDash val="solid"/>
                    </a:lnB>
                    <a:solidFill>
                      <a:srgbClr val="E7F0E9"/>
                    </a:solidFill>
                  </a:tcPr>
                </a:tc>
              </a:tr>
            </a:tbl>
          </a:graphicData>
        </a:graphic>
      </p:graphicFrame>
      <p:sp>
        <p:nvSpPr>
          <p:cNvPr id="5" name="">
            <a:extLst xmlns:a="http://schemas.openxmlformats.org/drawingml/2006/main">
              <a:ext uri="{FF2B5EF4-FFF2-40B4-BE49-F238E27FC236}">
                <a16:creationId xmlns:a16="http://schemas.microsoft.com/office/drawing/2014/main" id="{F7979571-E952-419D-AE28-0907C2AF5933}"/>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거리·시간 중심의 이동 효율에 더해, 이용자가 원하는 운전 경험을 경로 선택의 중심에 둔다.</a:t>
            </a:r>
          </a:p>
        </p:txBody>
      </p:sp>
    </p:spTree>
    <p:extLst>
      <p:ext uri="{BB962C8B-B14F-4D97-AF65-F5344CB8AC3E}">
        <p14:creationId xmlns:p14="http://schemas.microsoft.com/office/powerpoint/2010/main" val="1161331399"/>
      </p:ext>
    </p:extLst>
  </p:cSld>
</p:sld>
</file>

<file path=ppt/slides/slide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5547531-F84D-4A83-88A5-75105143BECE}"/>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사용자 이용 흐름</a:t>
            </a:r>
          </a:p>
        </p:txBody>
      </p:sp>
      <p:sp>
        <p:nvSpPr>
          <p:cNvPr id="2" name="">
            <a:extLst xmlns:a="http://schemas.openxmlformats.org/drawingml/2006/main">
              <a:ext uri="{FF2B5EF4-FFF2-40B4-BE49-F238E27FC236}">
                <a16:creationId xmlns:a16="http://schemas.microsoft.com/office/drawing/2014/main" id="{03302728-D8DC-4DD5-9D91-CAD1EC3A532B}"/>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D127DC9A-41A2-462C-BEB8-D02A36F0B464}"/>
              </a:ext>
            </a:extLst>
          </p:cNvPr>
          <p:cNvSpPr>
            <a:spLocks xmlns:a="http://schemas.openxmlformats.org/drawingml/2006/main" noGrp="1"/>
          </p:cNvSpPr>
          <p:nvPr/>
        </p:nvSpPr>
        <p:spPr>
          <a:xfrm xmlns:a="http://schemas.openxmlformats.org/drawingml/2006/main">
            <a:off x="609600" y="157162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87B60"/>
                </a:solidFill>
                <a:latin typeface="Malgun Gothic"/>
                <a:ea typeface="Malgun Gothic"/>
                <a:cs typeface="Malgun Gothic"/>
              </a:defRPr>
            </a:defPPr>
          </a:lstStyle>
          <a:p xmlns:a="http://schemas.openxmlformats.org/drawingml/2006/main">
            <a:pPr>
              <a:defRPr sz="3000" b="1">
                <a:solidFill>
                  <a:srgbClr val="287B60"/>
                </a:solidFill>
                <a:latin typeface="Malgun Gothic"/>
                <a:ea typeface="Malgun Gothic"/>
                <a:cs typeface="Malgun Gothic"/>
              </a:defRPr>
            </a:pPr>
            <a:r>
              <a:rPr sz="3000" b="1">
                <a:solidFill>
                  <a:srgbClr val="287B60"/>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65566CD8-716F-4DE3-AAE3-3278615794F5}"/>
              </a:ext>
            </a:extLst>
          </p:cNvPr>
          <p:cNvSpPr>
            <a:spLocks xmlns:a="http://schemas.openxmlformats.org/drawingml/2006/main" noGrp="1"/>
          </p:cNvSpPr>
          <p:nvPr/>
        </p:nvSpPr>
        <p:spPr>
          <a:xfrm xmlns:a="http://schemas.openxmlformats.org/drawingml/2006/main">
            <a:off x="1714500" y="15716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B36"/>
                </a:solidFill>
                <a:latin typeface="Malgun Gothic"/>
                <a:ea typeface="Malgun Gothic"/>
                <a:cs typeface="Malgun Gothic"/>
              </a:defRPr>
            </a:defPPr>
          </a:lstStyle>
          <a:p xmlns:a="http://schemas.openxmlformats.org/drawingml/2006/main">
            <a:pPr>
              <a:defRPr sz="2325" b="1">
                <a:solidFill>
                  <a:srgbClr val="173B36"/>
                </a:solidFill>
                <a:latin typeface="Malgun Gothic"/>
                <a:ea typeface="Malgun Gothic"/>
                <a:cs typeface="Malgun Gothic"/>
              </a:defRPr>
            </a:pPr>
            <a:r>
              <a:rPr sz="2325" b="1">
                <a:solidFill>
                  <a:srgbClr val="173B36"/>
                </a:solidFill>
                <a:latin typeface="Malgun Gothic"/>
                <a:ea typeface="Malgun Gothic"/>
                <a:cs typeface="Malgun Gothic"/>
              </a:rPr>
              <a:t>연습 조건 설정</a:t>
            </a:r>
          </a:p>
        </p:txBody>
      </p:sp>
      <p:sp>
        <p:nvSpPr>
          <p:cNvPr id="5" name="">
            <a:extLst xmlns:a="http://schemas.openxmlformats.org/drawingml/2006/main">
              <a:ext uri="{FF2B5EF4-FFF2-40B4-BE49-F238E27FC236}">
                <a16:creationId xmlns:a16="http://schemas.microsoft.com/office/drawing/2014/main" id="{A608AFE2-8BE6-41D1-A641-407DB0928ECC}"/>
              </a:ext>
            </a:extLst>
          </p:cNvPr>
          <p:cNvSpPr>
            <a:spLocks xmlns:a="http://schemas.openxmlformats.org/drawingml/2006/main" noGrp="1"/>
          </p:cNvSpPr>
          <p:nvPr/>
        </p:nvSpPr>
        <p:spPr>
          <a:xfrm xmlns:a="http://schemas.openxmlformats.org/drawingml/2006/main">
            <a:off x="4857750" y="162877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출발 위치·거리·순환형/편도형·선호 차로</a:t>
            </a:r>
          </a:p>
        </p:txBody>
      </p:sp>
      <p:sp>
        <p:nvSpPr>
          <p:cNvPr id="6" name="">
            <a:extLst xmlns:a="http://schemas.openxmlformats.org/drawingml/2006/main">
              <a:ext uri="{FF2B5EF4-FFF2-40B4-BE49-F238E27FC236}">
                <a16:creationId xmlns:a16="http://schemas.microsoft.com/office/drawing/2014/main" id="{01B0AE7B-A660-4264-B648-89DCE244452A}"/>
              </a:ext>
            </a:extLst>
          </p:cNvPr>
          <p:cNvSpPr>
            <a:spLocks xmlns:a="http://schemas.openxmlformats.org/drawingml/2006/main" noGrp="1"/>
          </p:cNvSpPr>
          <p:nvPr/>
        </p:nvSpPr>
        <p:spPr>
          <a:xfrm xmlns:a="http://schemas.openxmlformats.org/drawingml/2006/main">
            <a:off x="609600" y="260032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87B60"/>
                </a:solidFill>
                <a:latin typeface="Malgun Gothic"/>
                <a:ea typeface="Malgun Gothic"/>
                <a:cs typeface="Malgun Gothic"/>
              </a:defRPr>
            </a:defPPr>
          </a:lstStyle>
          <a:p xmlns:a="http://schemas.openxmlformats.org/drawingml/2006/main">
            <a:pPr>
              <a:defRPr sz="3000" b="1">
                <a:solidFill>
                  <a:srgbClr val="287B60"/>
                </a:solidFill>
                <a:latin typeface="Malgun Gothic"/>
                <a:ea typeface="Malgun Gothic"/>
                <a:cs typeface="Malgun Gothic"/>
              </a:defRPr>
            </a:pPr>
            <a:r>
              <a:rPr sz="3000" b="1">
                <a:solidFill>
                  <a:srgbClr val="287B60"/>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924853F3-943D-4A24-90A5-317DCC714FDA}"/>
              </a:ext>
            </a:extLst>
          </p:cNvPr>
          <p:cNvSpPr>
            <a:spLocks xmlns:a="http://schemas.openxmlformats.org/drawingml/2006/main" noGrp="1"/>
          </p:cNvSpPr>
          <p:nvPr/>
        </p:nvSpPr>
        <p:spPr>
          <a:xfrm xmlns:a="http://schemas.openxmlformats.org/drawingml/2006/main">
            <a:off x="1714500" y="26003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B36"/>
                </a:solidFill>
                <a:latin typeface="Malgun Gothic"/>
                <a:ea typeface="Malgun Gothic"/>
                <a:cs typeface="Malgun Gothic"/>
              </a:defRPr>
            </a:defPPr>
          </a:lstStyle>
          <a:p xmlns:a="http://schemas.openxmlformats.org/drawingml/2006/main">
            <a:pPr>
              <a:defRPr sz="2325" b="1">
                <a:solidFill>
                  <a:srgbClr val="173B36"/>
                </a:solidFill>
                <a:latin typeface="Malgun Gothic"/>
                <a:ea typeface="Malgun Gothic"/>
                <a:cs typeface="Malgun Gothic"/>
              </a:defRPr>
            </a:pPr>
            <a:r>
              <a:rPr sz="2325" b="1">
                <a:solidFill>
                  <a:srgbClr val="173B36"/>
                </a:solidFill>
                <a:latin typeface="Malgun Gothic"/>
                <a:ea typeface="Malgun Gothic"/>
                <a:cs typeface="Malgun Gothic"/>
              </a:rPr>
              <a:t>목표 확인</a:t>
            </a:r>
          </a:p>
        </p:txBody>
      </p:sp>
      <p:sp>
        <p:nvSpPr>
          <p:cNvPr id="8" name="">
            <a:extLst xmlns:a="http://schemas.openxmlformats.org/drawingml/2006/main">
              <a:ext uri="{FF2B5EF4-FFF2-40B4-BE49-F238E27FC236}">
                <a16:creationId xmlns:a16="http://schemas.microsoft.com/office/drawing/2014/main" id="{CB0CAB98-D2F2-4877-A1DE-7690A469ECFD}"/>
              </a:ext>
            </a:extLst>
          </p:cNvPr>
          <p:cNvSpPr>
            <a:spLocks xmlns:a="http://schemas.openxmlformats.org/drawingml/2006/main" noGrp="1"/>
          </p:cNvSpPr>
          <p:nvPr/>
        </p:nvSpPr>
        <p:spPr>
          <a:xfrm xmlns:a="http://schemas.openxmlformats.org/drawingml/2006/main">
            <a:off x="4857750" y="265747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AI가 정리한 연습 목표를 확인하고 수정</a:t>
            </a:r>
          </a:p>
        </p:txBody>
      </p:sp>
      <p:sp>
        <p:nvSpPr>
          <p:cNvPr id="9" name="">
            <a:extLst xmlns:a="http://schemas.openxmlformats.org/drawingml/2006/main">
              <a:ext uri="{FF2B5EF4-FFF2-40B4-BE49-F238E27FC236}">
                <a16:creationId xmlns:a16="http://schemas.microsoft.com/office/drawing/2014/main" id="{C21D2B1F-00A3-48D1-8A67-D1ACAFA72BDE}"/>
              </a:ext>
            </a:extLst>
          </p:cNvPr>
          <p:cNvSpPr>
            <a:spLocks xmlns:a="http://schemas.openxmlformats.org/drawingml/2006/main" noGrp="1"/>
          </p:cNvSpPr>
          <p:nvPr/>
        </p:nvSpPr>
        <p:spPr>
          <a:xfrm xmlns:a="http://schemas.openxmlformats.org/drawingml/2006/main">
            <a:off x="609600" y="362902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87B60"/>
                </a:solidFill>
                <a:latin typeface="Malgun Gothic"/>
                <a:ea typeface="Malgun Gothic"/>
                <a:cs typeface="Malgun Gothic"/>
              </a:defRPr>
            </a:defPPr>
          </a:lstStyle>
          <a:p xmlns:a="http://schemas.openxmlformats.org/drawingml/2006/main">
            <a:pPr>
              <a:defRPr sz="3000" b="1">
                <a:solidFill>
                  <a:srgbClr val="287B60"/>
                </a:solidFill>
                <a:latin typeface="Malgun Gothic"/>
                <a:ea typeface="Malgun Gothic"/>
                <a:cs typeface="Malgun Gothic"/>
              </a:defRPr>
            </a:pPr>
            <a:r>
              <a:rPr sz="3000" b="1">
                <a:solidFill>
                  <a:srgbClr val="287B60"/>
                </a:solidFill>
                <a:latin typeface="Malgun Gothic"/>
                <a:ea typeface="Malgun Gothic"/>
                <a:cs typeface="Malgun Gothic"/>
              </a:rPr>
              <a:t>03</a:t>
            </a:r>
          </a:p>
        </p:txBody>
      </p:sp>
      <p:sp>
        <p:nvSpPr>
          <p:cNvPr id="10" name="">
            <a:extLst xmlns:a="http://schemas.openxmlformats.org/drawingml/2006/main">
              <a:ext uri="{FF2B5EF4-FFF2-40B4-BE49-F238E27FC236}">
                <a16:creationId xmlns:a16="http://schemas.microsoft.com/office/drawing/2014/main" id="{CB9E575E-4A7D-4B52-8A1D-C104DB40F68C}"/>
              </a:ext>
            </a:extLst>
          </p:cNvPr>
          <p:cNvSpPr>
            <a:spLocks xmlns:a="http://schemas.openxmlformats.org/drawingml/2006/main" noGrp="1"/>
          </p:cNvSpPr>
          <p:nvPr/>
        </p:nvSpPr>
        <p:spPr>
          <a:xfrm xmlns:a="http://schemas.openxmlformats.org/drawingml/2006/main">
            <a:off x="1714500" y="36290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B36"/>
                </a:solidFill>
                <a:latin typeface="Malgun Gothic"/>
                <a:ea typeface="Malgun Gothic"/>
                <a:cs typeface="Malgun Gothic"/>
              </a:defRPr>
            </a:defPPr>
          </a:lstStyle>
          <a:p xmlns:a="http://schemas.openxmlformats.org/drawingml/2006/main">
            <a:pPr>
              <a:defRPr sz="2325" b="1">
                <a:solidFill>
                  <a:srgbClr val="173B36"/>
                </a:solidFill>
                <a:latin typeface="Malgun Gothic"/>
                <a:ea typeface="Malgun Gothic"/>
                <a:cs typeface="Malgun Gothic"/>
              </a:defRPr>
            </a:pPr>
            <a:r>
              <a:rPr sz="2325" b="1">
                <a:solidFill>
                  <a:srgbClr val="173B36"/>
                </a:solidFill>
                <a:latin typeface="Malgun Gothic"/>
                <a:ea typeface="Malgun Gothic"/>
                <a:cs typeface="Malgun Gothic"/>
              </a:rPr>
              <a:t>후보 비교</a:t>
            </a:r>
          </a:p>
        </p:txBody>
      </p:sp>
      <p:sp>
        <p:nvSpPr>
          <p:cNvPr id="11" name="">
            <a:extLst xmlns:a="http://schemas.openxmlformats.org/drawingml/2006/main">
              <a:ext uri="{FF2B5EF4-FFF2-40B4-BE49-F238E27FC236}">
                <a16:creationId xmlns:a16="http://schemas.microsoft.com/office/drawing/2014/main" id="{4A283BA8-F8E6-48ED-B72F-B05A05CC3B35}"/>
              </a:ext>
            </a:extLst>
          </p:cNvPr>
          <p:cNvSpPr>
            <a:spLocks xmlns:a="http://schemas.openxmlformats.org/drawingml/2006/main" noGrp="1"/>
          </p:cNvSpPr>
          <p:nvPr/>
        </p:nvSpPr>
        <p:spPr>
          <a:xfrm xmlns:a="http://schemas.openxmlformats.org/drawingml/2006/main">
            <a:off x="4857750" y="368617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지도·거리·회전 횟수·km당 비용 확인</a:t>
            </a:r>
          </a:p>
        </p:txBody>
      </p:sp>
      <p:sp>
        <p:nvSpPr>
          <p:cNvPr id="12" name="">
            <a:extLst xmlns:a="http://schemas.openxmlformats.org/drawingml/2006/main">
              <a:ext uri="{FF2B5EF4-FFF2-40B4-BE49-F238E27FC236}">
                <a16:creationId xmlns:a16="http://schemas.microsoft.com/office/drawing/2014/main" id="{83A817A0-16B6-4B60-BF82-F71FE9DEDE0D}"/>
              </a:ext>
            </a:extLst>
          </p:cNvPr>
          <p:cNvSpPr>
            <a:spLocks xmlns:a="http://schemas.openxmlformats.org/drawingml/2006/main" noGrp="1"/>
          </p:cNvSpPr>
          <p:nvPr/>
        </p:nvSpPr>
        <p:spPr>
          <a:xfrm xmlns:a="http://schemas.openxmlformats.org/drawingml/2006/main">
            <a:off x="609600" y="465772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287B60"/>
                </a:solidFill>
                <a:latin typeface="Malgun Gothic"/>
                <a:ea typeface="Malgun Gothic"/>
                <a:cs typeface="Malgun Gothic"/>
              </a:defRPr>
            </a:defPPr>
          </a:lstStyle>
          <a:p xmlns:a="http://schemas.openxmlformats.org/drawingml/2006/main">
            <a:pPr>
              <a:defRPr sz="3000" b="1">
                <a:solidFill>
                  <a:srgbClr val="287B60"/>
                </a:solidFill>
                <a:latin typeface="Malgun Gothic"/>
                <a:ea typeface="Malgun Gothic"/>
                <a:cs typeface="Malgun Gothic"/>
              </a:defRPr>
            </a:pPr>
            <a:r>
              <a:rPr sz="3000" b="1">
                <a:solidFill>
                  <a:srgbClr val="287B60"/>
                </a:solidFill>
                <a:latin typeface="Malgun Gothic"/>
                <a:ea typeface="Malgun Gothic"/>
                <a:cs typeface="Malgun Gothic"/>
              </a:rPr>
              <a:t>04</a:t>
            </a:r>
          </a:p>
        </p:txBody>
      </p:sp>
      <p:sp>
        <p:nvSpPr>
          <p:cNvPr id="13" name="">
            <a:extLst xmlns:a="http://schemas.openxmlformats.org/drawingml/2006/main">
              <a:ext uri="{FF2B5EF4-FFF2-40B4-BE49-F238E27FC236}">
                <a16:creationId xmlns:a16="http://schemas.microsoft.com/office/drawing/2014/main" id="{5C240830-B26C-4C33-A7CE-58486F66FE5D}"/>
              </a:ext>
            </a:extLst>
          </p:cNvPr>
          <p:cNvSpPr>
            <a:spLocks xmlns:a="http://schemas.openxmlformats.org/drawingml/2006/main" noGrp="1"/>
          </p:cNvSpPr>
          <p:nvPr/>
        </p:nvSpPr>
        <p:spPr>
          <a:xfrm xmlns:a="http://schemas.openxmlformats.org/drawingml/2006/main">
            <a:off x="1714500" y="46577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B36"/>
                </a:solidFill>
                <a:latin typeface="Malgun Gothic"/>
                <a:ea typeface="Malgun Gothic"/>
                <a:cs typeface="Malgun Gothic"/>
              </a:defRPr>
            </a:defPPr>
          </a:lstStyle>
          <a:p xmlns:a="http://schemas.openxmlformats.org/drawingml/2006/main">
            <a:pPr>
              <a:defRPr sz="2325" b="1">
                <a:solidFill>
                  <a:srgbClr val="173B36"/>
                </a:solidFill>
                <a:latin typeface="Malgun Gothic"/>
                <a:ea typeface="Malgun Gothic"/>
                <a:cs typeface="Malgun Gothic"/>
              </a:defRPr>
            </a:pPr>
            <a:r>
              <a:rPr sz="2325" b="1">
                <a:solidFill>
                  <a:srgbClr val="173B36"/>
                </a:solidFill>
                <a:latin typeface="Malgun Gothic"/>
                <a:ea typeface="Malgun Gothic"/>
                <a:cs typeface="Malgun Gothic"/>
              </a:rPr>
              <a:t>선택과 반복</a:t>
            </a:r>
          </a:p>
        </p:txBody>
      </p:sp>
      <p:sp>
        <p:nvSpPr>
          <p:cNvPr id="14" name="">
            <a:extLst xmlns:a="http://schemas.openxmlformats.org/drawingml/2006/main">
              <a:ext uri="{FF2B5EF4-FFF2-40B4-BE49-F238E27FC236}">
                <a16:creationId xmlns:a16="http://schemas.microsoft.com/office/drawing/2014/main" id="{D76E405F-297A-4F34-B027-B58EC78B031E}"/>
              </a:ext>
            </a:extLst>
          </p:cNvPr>
          <p:cNvSpPr>
            <a:spLocks xmlns:a="http://schemas.openxmlformats.org/drawingml/2006/main" noGrp="1"/>
          </p:cNvSpPr>
          <p:nvPr/>
        </p:nvSpPr>
        <p:spPr>
          <a:xfrm xmlns:a="http://schemas.openxmlformats.org/drawingml/2006/main">
            <a:off x="4857750" y="4714875"/>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추천 이유 확인, 경로 저장, 조건 변경</a:t>
            </a:r>
          </a:p>
        </p:txBody>
      </p:sp>
    </p:spTree>
    <p:extLst>
      <p:ext uri="{BB962C8B-B14F-4D97-AF65-F5344CB8AC3E}">
        <p14:creationId xmlns:p14="http://schemas.microsoft.com/office/powerpoint/2010/main" val="1923646039"/>
      </p:ext>
    </p:extLst>
  </p:cSld>
</p:sld>
</file>

<file path=ppt/slides/slide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865B60-9880-4331-82D6-0B6D71D55DD5}"/>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AI의 역할</a:t>
            </a:r>
          </a:p>
        </p:txBody>
      </p:sp>
      <p:sp>
        <p:nvSpPr>
          <p:cNvPr id="2" name="">
            <a:extLst xmlns:a="http://schemas.openxmlformats.org/drawingml/2006/main">
              <a:ext uri="{FF2B5EF4-FFF2-40B4-BE49-F238E27FC236}">
                <a16:creationId xmlns:a16="http://schemas.microsoft.com/office/drawing/2014/main" id="{C6362AB0-5217-488E-BEDB-E3456D10A5DC}"/>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562CFA41-1C02-4D60-BE54-FC25C36F9B17}"/>
              </a:ext>
            </a:extLst>
          </p:cNvPr>
          <p:cNvSpPr>
            <a:spLocks xmlns:a="http://schemas.openxmlformats.org/drawingml/2006/main" noGrp="1"/>
          </p:cNvSpPr>
          <p:nvPr/>
        </p:nvSpPr>
        <p:spPr>
          <a:xfrm xmlns:a="http://schemas.openxmlformats.org/drawingml/2006/main">
            <a:off x="609600" y="17145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입력 단계</a:t>
            </a:r>
          </a:p>
        </p:txBody>
      </p:sp>
      <p:sp>
        <p:nvSpPr>
          <p:cNvPr id="4" name="">
            <a:extLst xmlns:a="http://schemas.openxmlformats.org/drawingml/2006/main">
              <a:ext uri="{FF2B5EF4-FFF2-40B4-BE49-F238E27FC236}">
                <a16:creationId xmlns:a16="http://schemas.microsoft.com/office/drawing/2014/main" id="{518F9B25-C25E-4246-BC6D-D5D5268B5268}"/>
              </a:ext>
            </a:extLst>
          </p:cNvPr>
          <p:cNvSpPr>
            <a:spLocks xmlns:a="http://schemas.openxmlformats.org/drawingml/2006/main" noGrp="1"/>
          </p:cNvSpPr>
          <p:nvPr/>
        </p:nvSpPr>
        <p:spPr>
          <a:xfrm xmlns:a="http://schemas.openxmlformats.org/drawingml/2006/main">
            <a:off x="609600" y="22860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“좌회전을 여러 번 연습하고 싶어요”</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좌회전 연습 목표로 정리</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이용자가 확인하고 수정</a:t>
            </a:r>
          </a:p>
        </p:txBody>
      </p:sp>
      <p:sp>
        <p:nvSpPr>
          <p:cNvPr id="5" name="">
            <a:extLst xmlns:a="http://schemas.openxmlformats.org/drawingml/2006/main">
              <a:ext uri="{FF2B5EF4-FFF2-40B4-BE49-F238E27FC236}">
                <a16:creationId xmlns:a16="http://schemas.microsoft.com/office/drawing/2014/main" id="{C6B1CF39-A62C-4F36-AF3C-42082DE60425}"/>
              </a:ext>
            </a:extLst>
          </p:cNvPr>
          <p:cNvSpPr>
            <a:spLocks xmlns:a="http://schemas.openxmlformats.org/drawingml/2006/main" noGrp="1"/>
          </p:cNvSpPr>
          <p:nvPr/>
        </p:nvSpPr>
        <p:spPr>
          <a:xfrm xmlns:a="http://schemas.openxmlformats.org/drawingml/2006/main">
            <a:off x="6381750" y="17145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후보 비교 단계</a:t>
            </a:r>
          </a:p>
        </p:txBody>
      </p:sp>
      <p:sp>
        <p:nvSpPr>
          <p:cNvPr id="6" name="">
            <a:extLst xmlns:a="http://schemas.openxmlformats.org/drawingml/2006/main">
              <a:ext uri="{FF2B5EF4-FFF2-40B4-BE49-F238E27FC236}">
                <a16:creationId xmlns:a16="http://schemas.microsoft.com/office/drawing/2014/main" id="{22BFBC2A-BB94-4534-B901-DB3F560655C8}"/>
              </a:ext>
            </a:extLst>
          </p:cNvPr>
          <p:cNvSpPr>
            <a:spLocks xmlns:a="http://schemas.openxmlformats.org/drawingml/2006/main" noGrp="1"/>
          </p:cNvSpPr>
          <p:nvPr/>
        </p:nvSpPr>
        <p:spPr>
          <a:xfrm xmlns:a="http://schemas.openxmlformats.org/drawingml/2006/main">
            <a:off x="6381750" y="22860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계산된 후보의 회전 횟수·비용을 근거로</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목표에 맞는 후보와 그 이유를 설명</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부담이 큰 부분도 함께 안내</a:t>
            </a:r>
          </a:p>
        </p:txBody>
      </p:sp>
      <p:sp>
        <p:nvSpPr>
          <p:cNvPr id="7" name="">
            <a:extLst xmlns:a="http://schemas.openxmlformats.org/drawingml/2006/main">
              <a:ext uri="{FF2B5EF4-FFF2-40B4-BE49-F238E27FC236}">
                <a16:creationId xmlns:a16="http://schemas.microsoft.com/office/drawing/2014/main" id="{43C638CF-407E-402A-9F0A-866DD549F2E7}"/>
              </a:ext>
            </a:extLst>
          </p:cNvPr>
          <p:cNvSpPr>
            <a:spLocks xmlns:a="http://schemas.openxmlformats.org/drawingml/2006/main" noGrp="1"/>
          </p:cNvSpPr>
          <p:nvPr/>
        </p:nvSpPr>
        <p:spPr>
          <a:xfrm xmlns:a="http://schemas.openxmlformats.org/drawingml/2006/main">
            <a:off x="609600" y="414337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87B60"/>
                </a:solidFill>
                <a:latin typeface="Malgun Gothic"/>
                <a:ea typeface="Malgun Gothic"/>
                <a:cs typeface="Malgun Gothic"/>
              </a:defRPr>
            </a:defPPr>
          </a:lstStyle>
          <a:p xmlns:a="http://schemas.openxmlformats.org/drawingml/2006/main">
            <a:pPr>
              <a:defRPr sz="2025" b="1">
                <a:solidFill>
                  <a:srgbClr val="287B60"/>
                </a:solidFill>
                <a:latin typeface="Malgun Gothic"/>
                <a:ea typeface="Malgun Gothic"/>
                <a:cs typeface="Malgun Gothic"/>
              </a:defRPr>
            </a:pPr>
            <a:r>
              <a:rPr sz="2025" b="1">
                <a:solidFill>
                  <a:srgbClr val="287B60"/>
                </a:solidFill>
                <a:latin typeface="Malgun Gothic"/>
                <a:ea typeface="Malgun Gothic"/>
                <a:cs typeface="Malgun Gothic"/>
              </a:rPr>
              <a:t>설명 예시</a:t>
            </a:r>
          </a:p>
        </p:txBody>
      </p:sp>
      <p:sp>
        <p:nvSpPr>
          <p:cNvPr id="8" name="">
            <a:extLst xmlns:a="http://schemas.openxmlformats.org/drawingml/2006/main">
              <a:ext uri="{FF2B5EF4-FFF2-40B4-BE49-F238E27FC236}">
                <a16:creationId xmlns:a16="http://schemas.microsoft.com/office/drawing/2014/main" id="{19D870E0-C1E4-4D86-B180-83EADE3EFC54}"/>
              </a:ext>
            </a:extLst>
          </p:cNvPr>
          <p:cNvSpPr>
            <a:spLocks xmlns:a="http://schemas.openxmlformats.org/drawingml/2006/main" noGrp="1"/>
          </p:cNvSpPr>
          <p:nvPr/>
        </p:nvSpPr>
        <p:spPr>
          <a:xfrm xmlns:a="http://schemas.openxmlformats.org/drawingml/2006/main">
            <a:off x="609600" y="4714875"/>
            <a:ext cx="1090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B36"/>
                </a:solidFill>
                <a:latin typeface="Malgun Gothic"/>
                <a:ea typeface="Malgun Gothic"/>
                <a:cs typeface="Malgun Gothic"/>
              </a:defRPr>
            </a:defPPr>
          </a:lstStyle>
          <a:p xmlns:a="http://schemas.openxmlformats.org/drawingml/2006/main">
            <a:pPr>
              <a:defRPr sz="2175" b="0">
                <a:solidFill>
                  <a:srgbClr val="173B36"/>
                </a:solidFill>
                <a:latin typeface="Malgun Gothic"/>
                <a:ea typeface="Malgun Gothic"/>
                <a:cs typeface="Malgun Gothic"/>
              </a:defRPr>
            </a:pPr>
            <a:r>
              <a:rPr sz="2175" b="0">
                <a:solidFill>
                  <a:srgbClr val="173B36"/>
                </a:solidFill>
                <a:latin typeface="Malgun Gothic"/>
                <a:ea typeface="Malgun Gothic"/>
                <a:cs typeface="Malgun Gothic"/>
              </a:rPr>
              <a:t>“후보 B는 좌회전 7회로 연습 기회가 많습니다.</a:t>
            </a:r>
          </a:p>
          <a:p xmlns:a="http://schemas.openxmlformats.org/drawingml/2006/main">
            <a:pPr>
              <a:defRPr sz="2175" b="0">
                <a:solidFill>
                  <a:srgbClr val="173B36"/>
                </a:solidFill>
                <a:latin typeface="Malgun Gothic"/>
                <a:ea typeface="Malgun Gothic"/>
                <a:cs typeface="Malgun Gothic"/>
              </a:defRPr>
            </a:pPr>
            <a:r>
              <a:rPr sz="2175" b="0">
                <a:solidFill>
                  <a:srgbClr val="173B36"/>
                </a:solidFill>
                <a:latin typeface="Malgun Gothic"/>
                <a:ea typeface="Malgun Gothic"/>
                <a:cs typeface="Malgun Gothic"/>
              </a:rPr>
              <a:t>사고 자료 적용 거리는 92.46%이므로 자료 범위도 함께 확인하세요.”</a:t>
            </a:r>
          </a:p>
        </p:txBody>
      </p:sp>
    </p:spTree>
    <p:extLst>
      <p:ext uri="{BB962C8B-B14F-4D97-AF65-F5344CB8AC3E}">
        <p14:creationId xmlns:p14="http://schemas.microsoft.com/office/powerpoint/2010/main" val="1140384744"/>
      </p:ext>
    </p:extLst>
  </p:cSld>
</p:sld>
</file>

<file path=ppt/slides/slide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302FAC-AD2A-4D44-AFBF-3A34178FC8C4}"/>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후보 생성과 추천 순서</a:t>
            </a:r>
          </a:p>
        </p:txBody>
      </p:sp>
      <p:sp>
        <p:nvSpPr>
          <p:cNvPr id="2" name="">
            <a:extLst xmlns:a="http://schemas.openxmlformats.org/drawingml/2006/main">
              <a:ext uri="{FF2B5EF4-FFF2-40B4-BE49-F238E27FC236}">
                <a16:creationId xmlns:a16="http://schemas.microsoft.com/office/drawing/2014/main" id="{8C2D4F24-AAE9-43C6-A6BE-810B03569442}"/>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68270E3D-0C85-46E8-AD6D-49D4F2D13585}"/>
              </a:ext>
            </a:extLst>
          </p:cNvPr>
          <p:cNvSpPr>
            <a:spLocks xmlns:a="http://schemas.openxmlformats.org/drawingml/2006/main" noGrp="1"/>
          </p:cNvSpPr>
          <p:nvPr/>
        </p:nvSpPr>
        <p:spPr>
          <a:xfrm xmlns:a="http://schemas.openxmlformats.org/drawingml/2006/main">
            <a:off x="609600" y="171450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후보 구성</a:t>
            </a:r>
          </a:p>
        </p:txBody>
      </p:sp>
      <p:sp>
        <p:nvSpPr>
          <p:cNvPr id="4" name="">
            <a:extLst xmlns:a="http://schemas.openxmlformats.org/drawingml/2006/main">
              <a:ext uri="{FF2B5EF4-FFF2-40B4-BE49-F238E27FC236}">
                <a16:creationId xmlns:a16="http://schemas.microsoft.com/office/drawing/2014/main" id="{4581FA49-E952-4E69-A955-7F225D07000B}"/>
              </a:ext>
            </a:extLst>
          </p:cNvPr>
          <p:cNvSpPr>
            <a:spLocks xmlns:a="http://schemas.openxmlformats.org/drawingml/2006/main" noGrp="1"/>
          </p:cNvSpPr>
          <p:nvPr/>
        </p:nvSpPr>
        <p:spPr>
          <a:xfrm xmlns:a="http://schemas.openxmlformats.org/drawingml/2006/main">
            <a:off x="609600" y="228600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조건에 맞는 연결된 도로를 탐색</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사고 제외 기준에 해당하는 구간 제거</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중첩 비율 50% 미만, 최대 5개 제안</a:t>
            </a:r>
          </a:p>
        </p:txBody>
      </p:sp>
      <p:sp>
        <p:nvSpPr>
          <p:cNvPr id="5" name="">
            <a:extLst xmlns:a="http://schemas.openxmlformats.org/drawingml/2006/main">
              <a:ext uri="{FF2B5EF4-FFF2-40B4-BE49-F238E27FC236}">
                <a16:creationId xmlns:a16="http://schemas.microsoft.com/office/drawing/2014/main" id="{204A4C0F-81B9-4A5E-B665-0FAC9BD75021}"/>
              </a:ext>
            </a:extLst>
          </p:cNvPr>
          <p:cNvSpPr>
            <a:spLocks xmlns:a="http://schemas.openxmlformats.org/drawingml/2006/main" noGrp="1"/>
          </p:cNvSpPr>
          <p:nvPr/>
        </p:nvSpPr>
        <p:spPr>
          <a:xfrm xmlns:a="http://schemas.openxmlformats.org/drawingml/2006/main">
            <a:off x="6381750" y="17145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같은 상대 난이도 안의 우선순위</a:t>
            </a:r>
          </a:p>
        </p:txBody>
      </p:sp>
      <p:sp>
        <p:nvSpPr>
          <p:cNvPr id="6" name="">
            <a:extLst xmlns:a="http://schemas.openxmlformats.org/drawingml/2006/main">
              <a:ext uri="{FF2B5EF4-FFF2-40B4-BE49-F238E27FC236}">
                <a16:creationId xmlns:a16="http://schemas.microsoft.com/office/drawing/2014/main" id="{96C2778F-371F-4757-B3C9-F892610BF491}"/>
              </a:ext>
            </a:extLst>
          </p:cNvPr>
          <p:cNvSpPr>
            <a:spLocks xmlns:a="http://schemas.openxmlformats.org/drawingml/2006/main" noGrp="1"/>
          </p:cNvSpPr>
          <p:nvPr/>
        </p:nvSpPr>
        <p:spPr>
          <a:xfrm xmlns:a="http://schemas.openxmlformats.org/drawingml/2006/main">
            <a:off x="6381750" y="22860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1. 연습 목표와 일치하는 항목 수</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2. 좌회전·우회전·유턴 합계 횟수</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3. 낮은 km당 비용</a:t>
            </a:r>
          </a:p>
        </p:txBody>
      </p:sp>
      <p:sp>
        <p:nvSpPr>
          <p:cNvPr id="7" name="">
            <a:extLst xmlns:a="http://schemas.openxmlformats.org/drawingml/2006/main">
              <a:ext uri="{FF2B5EF4-FFF2-40B4-BE49-F238E27FC236}">
                <a16:creationId xmlns:a16="http://schemas.microsoft.com/office/drawing/2014/main" id="{DA617FDD-482A-43CE-901F-E19AD725E951}"/>
              </a:ext>
            </a:extLst>
          </p:cNvPr>
          <p:cNvSpPr>
            <a:spLocks xmlns:a="http://schemas.openxmlformats.org/drawingml/2006/main" noGrp="1"/>
          </p:cNvSpPr>
          <p:nvPr/>
        </p:nvSpPr>
        <p:spPr>
          <a:xfrm xmlns:a="http://schemas.openxmlformats.org/drawingml/2006/main">
            <a:off x="609600" y="44767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7B60"/>
                </a:solidFill>
                <a:latin typeface="Malgun Gothic"/>
                <a:ea typeface="Malgun Gothic"/>
                <a:cs typeface="Malgun Gothic"/>
              </a:defRPr>
            </a:defPPr>
          </a:lstStyle>
          <a:p xmlns:a="http://schemas.openxmlformats.org/drawingml/2006/main">
            <a:pPr>
              <a:defRPr sz="2100" b="1">
                <a:solidFill>
                  <a:srgbClr val="287B60"/>
                </a:solidFill>
                <a:latin typeface="Malgun Gothic"/>
                <a:ea typeface="Malgun Gothic"/>
                <a:cs typeface="Malgun Gothic"/>
              </a:defRPr>
            </a:pPr>
            <a:r>
              <a:rPr sz="2100" b="1">
                <a:solidFill>
                  <a:srgbClr val="287B60"/>
                </a:solidFill>
                <a:latin typeface="Malgun Gothic"/>
                <a:ea typeface="Malgun Gothic"/>
                <a:cs typeface="Malgun Gothic"/>
              </a:rPr>
              <a:t>상대 난이도</a:t>
            </a:r>
          </a:p>
        </p:txBody>
      </p:sp>
      <p:sp>
        <p:nvSpPr>
          <p:cNvPr id="8" name="">
            <a:extLst xmlns:a="http://schemas.openxmlformats.org/drawingml/2006/main">
              <a:ext uri="{FF2B5EF4-FFF2-40B4-BE49-F238E27FC236}">
                <a16:creationId xmlns:a16="http://schemas.microsoft.com/office/drawing/2014/main" id="{B7894E12-BD6D-439A-B9EE-0D7B96E06C57}"/>
              </a:ext>
            </a:extLst>
          </p:cNvPr>
          <p:cNvSpPr>
            <a:spLocks xmlns:a="http://schemas.openxmlformats.org/drawingml/2006/main" noGrp="1"/>
          </p:cNvSpPr>
          <p:nvPr/>
        </p:nvSpPr>
        <p:spPr>
          <a:xfrm xmlns:a="http://schemas.openxmlformats.org/drawingml/2006/main">
            <a:off x="3143250" y="4476750"/>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B36"/>
                </a:solidFill>
                <a:latin typeface="Malgun Gothic"/>
                <a:ea typeface="Malgun Gothic"/>
                <a:cs typeface="Malgun Gothic"/>
              </a:defRPr>
            </a:defPPr>
          </a:lstStyle>
          <a:p xmlns:a="http://schemas.openxmlformats.org/drawingml/2006/main">
            <a:pPr>
              <a:defRPr sz="2175" b="0">
                <a:solidFill>
                  <a:srgbClr val="173B36"/>
                </a:solidFill>
                <a:latin typeface="Malgun Gothic"/>
                <a:ea typeface="Malgun Gothic"/>
                <a:cs typeface="Malgun Gothic"/>
              </a:defRPr>
            </a:pPr>
            <a:r>
              <a:rPr sz="2175" b="0">
                <a:solidFill>
                  <a:srgbClr val="173B36"/>
                </a:solidFill>
                <a:latin typeface="Malgun Gothic"/>
                <a:ea typeface="Malgun Gothic"/>
                <a:cs typeface="Malgun Gothic"/>
              </a:rPr>
              <a:t>후보들의 km당 비용 범위를 3등분해 비교한다.</a:t>
            </a:r>
          </a:p>
        </p:txBody>
      </p:sp>
      <p:sp>
        <p:nvSpPr>
          <p:cNvPr id="9" name="">
            <a:extLst xmlns:a="http://schemas.openxmlformats.org/drawingml/2006/main">
              <a:ext uri="{FF2B5EF4-FFF2-40B4-BE49-F238E27FC236}">
                <a16:creationId xmlns:a16="http://schemas.microsoft.com/office/drawing/2014/main" id="{091D9C33-FF93-42AF-9C9E-A3FE868B94C7}"/>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난이도는 함께 비교하는 후보 내 상대 구분이며, 절대적인 안전 등급을 뜻하지 않는다.</a:t>
            </a:r>
          </a:p>
        </p:txBody>
      </p:sp>
    </p:spTree>
    <p:extLst>
      <p:ext uri="{BB962C8B-B14F-4D97-AF65-F5344CB8AC3E}">
        <p14:creationId xmlns:p14="http://schemas.microsoft.com/office/powerpoint/2010/main" val="1631123616"/>
      </p:ext>
    </p:extLst>
  </p:cSld>
</p:sld>
</file>

<file path=ppt/slides/slide8.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24F487-1922-45D4-AD85-A0AD565FB77A}"/>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활용 자료와 사용 목적</a:t>
            </a:r>
          </a:p>
        </p:txBody>
      </p:sp>
      <p:sp>
        <p:nvSpPr>
          <p:cNvPr id="2" name="">
            <a:extLst xmlns:a="http://schemas.openxmlformats.org/drawingml/2006/main">
              <a:ext uri="{FF2B5EF4-FFF2-40B4-BE49-F238E27FC236}">
                <a16:creationId xmlns:a16="http://schemas.microsoft.com/office/drawing/2014/main" id="{F9100D8D-E2AB-40B0-B9C8-1EFA797CA19D}"/>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08</a:t>
            </a:r>
          </a:p>
        </p:txBody>
      </p:sp>
      <p:graphicFrame>
        <p:nvGraphicFramePr>
          <p:cNvPr id="3" name="">
            <a:extLst xmlns:a="http://schemas.openxmlformats.org/drawingml/2006/main">
              <a:ext uri="{FF2B5EF4-FFF2-40B4-BE49-F238E27FC236}">
                <a16:creationId xmlns:a16="http://schemas.microsoft.com/office/drawing/2014/main" id="{9DD9DE63-CA37-4EB1-9B6C-1741037954F5}"/>
              </a:ext>
            </a:extLst>
          </p:cNvPr>
          <p:cNvGraphicFramePr/>
          <p:nvPr/>
        </p:nvGraphicFramePr>
        <p:xfrm>
          <a:off xmlns:a="http://schemas.openxmlformats.org/drawingml/2006/main" x="609600" y="1571625"/>
          <a:ext xmlns:a="http://schemas.openxmlformats.org/drawingml/2006/main" cx="10972800" cy="3571875"/>
        </p:xfrm>
        <a:graphic xmlns:a="http://schemas.openxmlformats.org/drawingml/2006/main">
          <a:graphicData uri="http://schemas.openxmlformats.org/drawingml/2006/table">
            <a:tbl>
              <a:tblPr/>
              <a:tblGrid>
                <a:gridCol w="1809750"/>
                <a:gridCol w="4762500"/>
                <a:gridCol w="4400550"/>
              </a:tblGrid>
              <a:tr h="892969">
                <a:tc>
                  <a:txBody>
                    <a:bodyPr/>
                    <a:lstStyle/>
                    <a:p>
                      <a:r>
                        <a:rPr sz="1725" b="1">
                          <a:solidFill>
                            <a:srgbClr val="FFFFFF"/>
                          </a:solidFill>
                          <a:latin typeface="Malgun Gothic"/>
                          <a:ea typeface="Malgun Gothic"/>
                          <a:cs typeface="Malgun Gothic"/>
                        </a:rPr>
                        <a:t>자료</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제공기관·자료명</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활용 항목과 목적</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892969">
                <a:tc>
                  <a:txBody>
                    <a:bodyPr/>
                    <a:lstStyle/>
                    <a:p>
                      <a:r>
                        <a:rPr sz="1725" b="0">
                          <a:solidFill>
                            <a:srgbClr val="173B36"/>
                          </a:solidFill>
                          <a:latin typeface="Malgun Gothic"/>
                          <a:ea typeface="Malgun Gothic"/>
                          <a:cs typeface="Malgun Gothic"/>
                        </a:rPr>
                        <a:t>도로 지도</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한국도로공사 차량통행지표</a:t>
                      </a:r>
                    </a:p>
                    <a:p>
                      <a:r>
                        <a:rPr sz="1725" b="0">
                          <a:solidFill>
                            <a:srgbClr val="173B36"/>
                          </a:solidFill>
                          <a:latin typeface="Malgun Gothic"/>
                          <a:ea typeface="Malgun Gothic"/>
                          <a:cs typeface="Malgun Gothic"/>
                        </a:rPr>
                        <a:t>한국교통연구원 View-T (2024)</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도로 위치·길이·차로 수·방향</a:t>
                      </a:r>
                    </a:p>
                    <a:p>
                      <a:r>
                        <a:rPr sz="1725" b="0">
                          <a:solidFill>
                            <a:srgbClr val="173B36"/>
                          </a:solidFill>
                          <a:latin typeface="Malgun Gothic"/>
                          <a:ea typeface="Malgun Gothic"/>
                          <a:cs typeface="Malgun Gothic"/>
                        </a:rPr>
                        <a:t>연결된 후보 구성</a:t>
                      </a:r>
                    </a:p>
                  </a:txBody>
                  <a:tcPr marL="91440" marR="91440" marT="45720" marB="45720">
                    <a:lnR w="9525">
                      <a:solidFill>
                        <a:srgbClr val="D7E1DB"/>
                      </a:solidFill>
                      <a:prstDash val="solid"/>
                    </a:lnR>
                    <a:lnB w="9525">
                      <a:solidFill>
                        <a:srgbClr val="D7E1DB"/>
                      </a:solidFill>
                      <a:prstDash val="solid"/>
                    </a:lnB>
                    <a:solidFill>
                      <a:srgbClr val="FFFFFF"/>
                    </a:solidFill>
                  </a:tcPr>
                </a:tc>
              </a:tr>
              <a:tr h="892969">
                <a:tc>
                  <a:txBody>
                    <a:bodyPr/>
                    <a:lstStyle/>
                    <a:p>
                      <a:r>
                        <a:rPr sz="1725" b="0">
                          <a:solidFill>
                            <a:srgbClr val="173B36"/>
                          </a:solidFill>
                          <a:latin typeface="Malgun Gothic"/>
                          <a:ea typeface="Malgun Gothic"/>
                          <a:cs typeface="Malgun Gothic"/>
                        </a:rPr>
                        <a:t>교통량</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경북대 첨단기술원 ITS</a:t>
                      </a:r>
                    </a:p>
                    <a:p>
                      <a:r>
                        <a:rPr sz="1725" b="0">
                          <a:solidFill>
                            <a:srgbClr val="173B36"/>
                          </a:solidFill>
                          <a:latin typeface="Malgun Gothic"/>
                          <a:ea typeface="Malgun Gothic"/>
                          <a:cs typeface="Malgun Gothic"/>
                        </a:rPr>
                        <a:t>한국교통연구원 View-T (2024)</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평일 AADT·차로당 교통량</a:t>
                      </a:r>
                    </a:p>
                    <a:p>
                      <a:r>
                        <a:rPr sz="1725" b="0">
                          <a:solidFill>
                            <a:srgbClr val="173B36"/>
                          </a:solidFill>
                          <a:latin typeface="Malgun Gothic"/>
                          <a:ea typeface="Malgun Gothic"/>
                          <a:cs typeface="Malgun Gothic"/>
                        </a:rPr>
                        <a:t>주행 부담 비교</a:t>
                      </a:r>
                    </a:p>
                  </a:txBody>
                  <a:tcPr marL="91440" marR="91440" marT="45720" marB="45720">
                    <a:lnR w="9525">
                      <a:solidFill>
                        <a:srgbClr val="D7E1DB"/>
                      </a:solidFill>
                      <a:prstDash val="solid"/>
                    </a:lnR>
                    <a:lnB w="9525">
                      <a:solidFill>
                        <a:srgbClr val="D7E1DB"/>
                      </a:solidFill>
                      <a:prstDash val="solid"/>
                    </a:lnB>
                    <a:solidFill>
                      <a:srgbClr val="E7F0E9"/>
                    </a:solidFill>
                  </a:tcPr>
                </a:tc>
              </a:tr>
              <a:tr h="892969">
                <a:tc>
                  <a:txBody>
                    <a:bodyPr/>
                    <a:lstStyle/>
                    <a:p>
                      <a:r>
                        <a:rPr sz="1725" b="0">
                          <a:solidFill>
                            <a:srgbClr val="173B36"/>
                          </a:solidFill>
                          <a:latin typeface="Malgun Gothic"/>
                          <a:ea typeface="Malgun Gothic"/>
                          <a:cs typeface="Malgun Gothic"/>
                        </a:rPr>
                        <a:t>사고 위치</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한국도로공사 차량통행지표</a:t>
                      </a:r>
                    </a:p>
                    <a:p>
                      <a:r>
                        <a:rPr sz="1725" b="0">
                          <a:solidFill>
                            <a:srgbClr val="173B36"/>
                          </a:solidFill>
                          <a:latin typeface="Malgun Gothic"/>
                          <a:ea typeface="Malgun Gothic"/>
                          <a:cs typeface="Malgun Gothic"/>
                        </a:rPr>
                        <a:t>한국도로교통공단 TAAS (2024)</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구간 사고건수·사고 밀도</a:t>
                      </a:r>
                    </a:p>
                    <a:p>
                      <a:r>
                        <a:rPr sz="1725" b="0">
                          <a:solidFill>
                            <a:srgbClr val="173B36"/>
                          </a:solidFill>
                          <a:latin typeface="Malgun Gothic"/>
                          <a:ea typeface="Malgun Gothic"/>
                          <a:cs typeface="Malgun Gothic"/>
                        </a:rPr>
                        <a:t>가산 비용과 제외 판단</a:t>
                      </a:r>
                    </a:p>
                  </a:txBody>
                  <a:tcPr marL="91440" marR="91440" marT="45720" marB="45720">
                    <a:lnR w="9525">
                      <a:solidFill>
                        <a:srgbClr val="D7E1DB"/>
                      </a:solidFill>
                      <a:prstDash val="solid"/>
                    </a:lnR>
                    <a:lnB w="9525">
                      <a:solidFill>
                        <a:srgbClr val="D7E1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75DD66-DF8B-4F93-A1D6-3D86FF2CDD52}"/>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미개방 자료의 이용 조건을 확인할 계획이다. 서비스는 최근 5년 평균, 대구 사례는 2024년 1년치 사고자료다.</a:t>
            </a:r>
          </a:p>
        </p:txBody>
      </p:sp>
    </p:spTree>
    <p:extLst>
      <p:ext uri="{BB962C8B-B14F-4D97-AF65-F5344CB8AC3E}">
        <p14:creationId xmlns:p14="http://schemas.microsoft.com/office/powerpoint/2010/main" val="1009492029"/>
      </p:ext>
    </p:extLst>
  </p:cSld>
</p:sld>
</file>

<file path=ppt/slides/slide9.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835FE2-296F-41E7-AB9F-A16AC384F6E4}"/>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경로 비용의 설계</a:t>
            </a:r>
          </a:p>
        </p:txBody>
      </p:sp>
      <p:sp>
        <p:nvSpPr>
          <p:cNvPr id="2" name="">
            <a:extLst xmlns:a="http://schemas.openxmlformats.org/drawingml/2006/main">
              <a:ext uri="{FF2B5EF4-FFF2-40B4-BE49-F238E27FC236}">
                <a16:creationId xmlns:a16="http://schemas.microsoft.com/office/drawing/2014/main" id="{3FE7DD6F-8AA1-4D07-9E12-541A53C1F36F}"/>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7A5AE4E4-C9EE-4331-BEA4-BCE0C32AEF76}"/>
              </a:ext>
            </a:extLst>
          </p:cNvPr>
          <p:cNvSpPr>
            <a:spLocks xmlns:a="http://schemas.openxmlformats.org/drawingml/2006/main" noGrp="1"/>
          </p:cNvSpPr>
          <p:nvPr/>
        </p:nvSpPr>
        <p:spPr>
          <a:xfrm xmlns:a="http://schemas.openxmlformats.org/drawingml/2006/main">
            <a:off x="609600" y="15240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287B60"/>
                </a:solidFill>
                <a:latin typeface="Malgun Gothic"/>
                <a:ea typeface="Malgun Gothic"/>
                <a:cs typeface="Malgun Gothic"/>
              </a:defRPr>
            </a:defPPr>
          </a:lstStyle>
          <a:p xmlns:a="http://schemas.openxmlformats.org/drawingml/2006/main">
            <a:pPr>
              <a:defRPr sz="3150" b="1">
                <a:solidFill>
                  <a:srgbClr val="287B60"/>
                </a:solidFill>
                <a:latin typeface="Malgun Gothic"/>
                <a:ea typeface="Malgun Gothic"/>
                <a:cs typeface="Malgun Gothic"/>
              </a:defRPr>
            </a:pPr>
            <a:r>
              <a:rPr sz="3150" b="1">
                <a:solidFill>
                  <a:srgbClr val="287B60"/>
                </a:solidFill>
                <a:latin typeface="Malgun Gothic"/>
                <a:ea typeface="Malgun Gothic"/>
                <a:cs typeface="Malgun Gothic"/>
              </a:rPr>
              <a:t>km당 비용 = 총비용 ÷ 전체 주행거리(km)</a:t>
            </a:r>
          </a:p>
        </p:txBody>
      </p:sp>
      <p:sp>
        <p:nvSpPr>
          <p:cNvPr id="4" name="">
            <a:extLst xmlns:a="http://schemas.openxmlformats.org/drawingml/2006/main">
              <a:ext uri="{FF2B5EF4-FFF2-40B4-BE49-F238E27FC236}">
                <a16:creationId xmlns:a16="http://schemas.microsoft.com/office/drawing/2014/main" id="{4F9D860E-528F-4953-ACA9-E78AF4E22E66}"/>
              </a:ext>
            </a:extLst>
          </p:cNvPr>
          <p:cNvSpPr>
            <a:spLocks xmlns:a="http://schemas.openxmlformats.org/drawingml/2006/main" noGrp="1"/>
          </p:cNvSpPr>
          <p:nvPr/>
        </p:nvSpPr>
        <p:spPr>
          <a:xfrm xmlns:a="http://schemas.openxmlformats.org/drawingml/2006/main">
            <a:off x="609600" y="2667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B36"/>
                </a:solidFill>
                <a:latin typeface="Malgun Gothic"/>
                <a:ea typeface="Malgun Gothic"/>
                <a:cs typeface="Malgun Gothic"/>
              </a:defRPr>
            </a:defPPr>
          </a:lstStyle>
          <a:p xmlns:a="http://schemas.openxmlformats.org/drawingml/2006/main">
            <a:pPr>
              <a:defRPr sz="2100" b="1">
                <a:solidFill>
                  <a:srgbClr val="173B36"/>
                </a:solidFill>
                <a:latin typeface="Malgun Gothic"/>
                <a:ea typeface="Malgun Gothic"/>
                <a:cs typeface="Malgun Gothic"/>
              </a:defRPr>
            </a:pPr>
            <a:r>
              <a:rPr sz="2100" b="1">
                <a:solidFill>
                  <a:srgbClr val="173B36"/>
                </a:solidFill>
                <a:latin typeface="Malgun Gothic"/>
                <a:ea typeface="Malgun Gothic"/>
                <a:cs typeface="Malgun Gothic"/>
              </a:rPr>
              <a:t>차로 기본 + 선호·연습 조정 + 교통량 + 사고 + 회전·재주행</a:t>
            </a:r>
          </a:p>
        </p:txBody>
      </p:sp>
      <p:sp>
        <p:nvSpPr>
          <p:cNvPr id="5" name="">
            <a:extLst xmlns:a="http://schemas.openxmlformats.org/drawingml/2006/main">
              <a:ext uri="{FF2B5EF4-FFF2-40B4-BE49-F238E27FC236}">
                <a16:creationId xmlns:a16="http://schemas.microsoft.com/office/drawing/2014/main" id="{87583078-5B10-44FF-BF94-DA4D3CEEA9C9}"/>
              </a:ext>
            </a:extLst>
          </p:cNvPr>
          <p:cNvSpPr>
            <a:spLocks xmlns:a="http://schemas.openxmlformats.org/drawingml/2006/main" noGrp="1"/>
          </p:cNvSpPr>
          <p:nvPr/>
        </p:nvSpPr>
        <p:spPr>
          <a:xfrm xmlns:a="http://schemas.openxmlformats.org/drawingml/2006/main">
            <a:off x="609600" y="37147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거리 보정</a:t>
            </a:r>
          </a:p>
        </p:txBody>
      </p:sp>
      <p:sp>
        <p:nvSpPr>
          <p:cNvPr id="6" name="">
            <a:extLst xmlns:a="http://schemas.openxmlformats.org/drawingml/2006/main">
              <a:ext uri="{FF2B5EF4-FFF2-40B4-BE49-F238E27FC236}">
                <a16:creationId xmlns:a16="http://schemas.microsoft.com/office/drawing/2014/main" id="{501D4AEF-79D0-49EF-89EB-607AC364F753}"/>
              </a:ext>
            </a:extLst>
          </p:cNvPr>
          <p:cNvSpPr>
            <a:spLocks xmlns:a="http://schemas.openxmlformats.org/drawingml/2006/main" noGrp="1"/>
          </p:cNvSpPr>
          <p:nvPr/>
        </p:nvSpPr>
        <p:spPr>
          <a:xfrm xmlns:a="http://schemas.openxmlformats.org/drawingml/2006/main">
            <a:off x="609600" y="428625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각 구간의 실제 주행 길이로 비용을 합산</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거리로 나눠 길이가 다른 후보를 비교</a:t>
            </a:r>
          </a:p>
        </p:txBody>
      </p:sp>
      <p:sp>
        <p:nvSpPr>
          <p:cNvPr id="7" name="">
            <a:extLst xmlns:a="http://schemas.openxmlformats.org/drawingml/2006/main">
              <a:ext uri="{FF2B5EF4-FFF2-40B4-BE49-F238E27FC236}">
                <a16:creationId xmlns:a16="http://schemas.microsoft.com/office/drawing/2014/main" id="{60B9EACC-C5F6-40EE-904E-BA4147F704C4}"/>
              </a:ext>
            </a:extLst>
          </p:cNvPr>
          <p:cNvSpPr>
            <a:spLocks xmlns:a="http://schemas.openxmlformats.org/drawingml/2006/main" noGrp="1"/>
          </p:cNvSpPr>
          <p:nvPr/>
        </p:nvSpPr>
        <p:spPr>
          <a:xfrm xmlns:a="http://schemas.openxmlformats.org/drawingml/2006/main">
            <a:off x="6381750" y="37147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자료 없음 표시</a:t>
            </a:r>
          </a:p>
        </p:txBody>
      </p:sp>
      <p:sp>
        <p:nvSpPr>
          <p:cNvPr id="8" name="">
            <a:extLst xmlns:a="http://schemas.openxmlformats.org/drawingml/2006/main">
              <a:ext uri="{FF2B5EF4-FFF2-40B4-BE49-F238E27FC236}">
                <a16:creationId xmlns:a16="http://schemas.microsoft.com/office/drawing/2014/main" id="{43479832-3D94-42CD-888A-63F5D30173AE}"/>
              </a:ext>
            </a:extLst>
          </p:cNvPr>
          <p:cNvSpPr>
            <a:spLocks xmlns:a="http://schemas.openxmlformats.org/drawingml/2006/main" noGrp="1"/>
          </p:cNvSpPr>
          <p:nvPr/>
        </p:nvSpPr>
        <p:spPr>
          <a:xfrm xmlns:a="http://schemas.openxmlformats.org/drawingml/2006/main">
            <a:off x="6381750" y="4286250"/>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계산상 추가 비용이 0이어도 자료 없음 안내</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후보별 자료 적용 거리 비율을 함께 제공</a:t>
            </a:r>
          </a:p>
        </p:txBody>
      </p:sp>
      <p:sp>
        <p:nvSpPr>
          <p:cNvPr id="9" name="">
            <a:extLst xmlns:a="http://schemas.openxmlformats.org/drawingml/2006/main">
              <a:ext uri="{FF2B5EF4-FFF2-40B4-BE49-F238E27FC236}">
                <a16:creationId xmlns:a16="http://schemas.microsoft.com/office/drawing/2014/main" id="{264BAC1A-63B8-43E8-AFF1-3DD0002E142C}"/>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비용은 금액이나 사고 확률을 뜻하지 않는 경로 비교 점수다.</a:t>
            </a:r>
          </a:p>
        </p:txBody>
      </p:sp>
    </p:spTree>
    <p:extLst>
      <p:ext uri="{BB962C8B-B14F-4D97-AF65-F5344CB8AC3E}">
        <p14:creationId xmlns:p14="http://schemas.microsoft.com/office/powerpoint/2010/main" val="2001694547"/>
      </p:ext>
    </p:extLst>
  </p:cSld>
</p:sld>
</file>

<file path=ppt/slides/slide10.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FAC4C2-F92B-4B15-B254-F46D22AE59C0}"/>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사고 정보의 반영과 제외 기준</a:t>
            </a:r>
          </a:p>
        </p:txBody>
      </p:sp>
      <p:sp>
        <p:nvSpPr>
          <p:cNvPr id="2" name="">
            <a:extLst xmlns:a="http://schemas.openxmlformats.org/drawingml/2006/main">
              <a:ext uri="{FF2B5EF4-FFF2-40B4-BE49-F238E27FC236}">
                <a16:creationId xmlns:a16="http://schemas.microsoft.com/office/drawing/2014/main" id="{1B1BC77A-664D-4F94-BA09-EF965BD55798}"/>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A716E15D-4C2B-4D50-8E4A-1E2D7B6DA0B4}"/>
              </a:ext>
            </a:extLst>
          </p:cNvPr>
          <p:cNvSpPr>
            <a:spLocks xmlns:a="http://schemas.openxmlformats.org/drawingml/2006/main" noGrp="1"/>
          </p:cNvSpPr>
          <p:nvPr/>
        </p:nvSpPr>
        <p:spPr>
          <a:xfrm xmlns:a="http://schemas.openxmlformats.org/drawingml/2006/main">
            <a:off x="609600" y="1714500"/>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길이를 고려한 가산</a:t>
            </a:r>
          </a:p>
        </p:txBody>
      </p:sp>
      <p:sp>
        <p:nvSpPr>
          <p:cNvPr id="4" name="">
            <a:extLst xmlns:a="http://schemas.openxmlformats.org/drawingml/2006/main">
              <a:ext uri="{FF2B5EF4-FFF2-40B4-BE49-F238E27FC236}">
                <a16:creationId xmlns:a16="http://schemas.microsoft.com/office/drawing/2014/main" id="{DDF2AA1E-D6AF-4059-9EA3-B3F074E73703}"/>
              </a:ext>
            </a:extLst>
          </p:cNvPr>
          <p:cNvSpPr>
            <a:spLocks xmlns:a="http://schemas.openxmlformats.org/drawingml/2006/main" noGrp="1"/>
          </p:cNvSpPr>
          <p:nvPr/>
        </p:nvSpPr>
        <p:spPr>
          <a:xfrm xmlns:a="http://schemas.openxmlformats.org/drawingml/2006/main">
            <a:off x="609600" y="2286000"/>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사고 밀도 = 연평균 사고건수 ÷ 구간 전체 길이</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기본 비용 B에 2단위 계단별 복리 가산</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첫 세 계단: 20% · 44% · 72.8%</a:t>
            </a:r>
          </a:p>
        </p:txBody>
      </p:sp>
      <p:sp>
        <p:nvSpPr>
          <p:cNvPr id="5" name="">
            <a:extLst xmlns:a="http://schemas.openxmlformats.org/drawingml/2006/main">
              <a:ext uri="{FF2B5EF4-FFF2-40B4-BE49-F238E27FC236}">
                <a16:creationId xmlns:a16="http://schemas.microsoft.com/office/drawing/2014/main" id="{6F19FB17-8B78-444E-B0FA-D4E1BD9D7D72}"/>
              </a:ext>
            </a:extLst>
          </p:cNvPr>
          <p:cNvSpPr>
            <a:spLocks xmlns:a="http://schemas.openxmlformats.org/drawingml/2006/main" noGrp="1"/>
          </p:cNvSpPr>
          <p:nvPr/>
        </p:nvSpPr>
        <p:spPr>
          <a:xfrm xmlns:a="http://schemas.openxmlformats.org/drawingml/2006/main">
            <a:off x="6572250" y="1714500"/>
            <a:ext cx="5000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탐색 전 제외하는 조건</a:t>
            </a:r>
          </a:p>
        </p:txBody>
      </p:sp>
      <p:sp>
        <p:nvSpPr>
          <p:cNvPr id="6" name="">
            <a:extLst xmlns:a="http://schemas.openxmlformats.org/drawingml/2006/main">
              <a:ext uri="{FF2B5EF4-FFF2-40B4-BE49-F238E27FC236}">
                <a16:creationId xmlns:a16="http://schemas.microsoft.com/office/drawing/2014/main" id="{454FF43A-1D8D-4237-BB7B-6944B361FD07}"/>
              </a:ext>
            </a:extLst>
          </p:cNvPr>
          <p:cNvSpPr>
            <a:spLocks xmlns:a="http://schemas.openxmlformats.org/drawingml/2006/main" noGrp="1"/>
          </p:cNvSpPr>
          <p:nvPr/>
        </p:nvSpPr>
        <p:spPr>
          <a:xfrm xmlns:a="http://schemas.openxmlformats.org/drawingml/2006/main">
            <a:off x="6572250" y="228600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연평균 사고건수 12건 이상</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또는 2건 초과이면서 밀도 30건/km 이상</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연습 목표 조정으로 제외를 해제하지 않음</a:t>
            </a:r>
          </a:p>
        </p:txBody>
      </p:sp>
      <p:sp>
        <p:nvSpPr>
          <p:cNvPr id="7" name="">
            <a:extLst xmlns:a="http://schemas.openxmlformats.org/drawingml/2006/main">
              <a:ext uri="{FF2B5EF4-FFF2-40B4-BE49-F238E27FC236}">
                <a16:creationId xmlns:a16="http://schemas.microsoft.com/office/drawing/2014/main" id="{BD9D81C1-D33C-400F-93BF-29D577B85E03}"/>
              </a:ext>
            </a:extLst>
          </p:cNvPr>
          <p:cNvSpPr>
            <a:spLocks xmlns:a="http://schemas.openxmlformats.org/drawingml/2006/main" noGrp="1"/>
          </p:cNvSpPr>
          <p:nvPr/>
        </p:nvSpPr>
        <p:spPr>
          <a:xfrm xmlns:a="http://schemas.openxmlformats.org/drawingml/2006/main">
            <a:off x="609600" y="438150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7B60"/>
                </a:solidFill>
                <a:latin typeface="Malgun Gothic"/>
                <a:ea typeface="Malgun Gothic"/>
                <a:cs typeface="Malgun Gothic"/>
              </a:defRPr>
            </a:defPPr>
          </a:lstStyle>
          <a:p xmlns:a="http://schemas.openxmlformats.org/drawingml/2006/main">
            <a:pPr>
              <a:defRPr sz="2100" b="1">
                <a:solidFill>
                  <a:srgbClr val="287B60"/>
                </a:solidFill>
                <a:latin typeface="Malgun Gothic"/>
                <a:ea typeface="Malgun Gothic"/>
                <a:cs typeface="Malgun Gothic"/>
              </a:defRPr>
            </a:pPr>
            <a:r>
              <a:rPr sz="2100" b="1">
                <a:solidFill>
                  <a:srgbClr val="287B60"/>
                </a:solidFill>
                <a:latin typeface="Malgun Gothic"/>
                <a:ea typeface="Malgun Gothic"/>
                <a:cs typeface="Malgun Gothic"/>
              </a:rPr>
              <a:t>대구 2024년 계산 사례</a:t>
            </a:r>
          </a:p>
        </p:txBody>
      </p:sp>
      <p:sp>
        <p:nvSpPr>
          <p:cNvPr id="8" name="">
            <a:extLst xmlns:a="http://schemas.openxmlformats.org/drawingml/2006/main">
              <a:ext uri="{FF2B5EF4-FFF2-40B4-BE49-F238E27FC236}">
                <a16:creationId xmlns:a16="http://schemas.microsoft.com/office/drawing/2014/main" id="{33A033CA-3809-49AD-919F-17A48126106B}"/>
              </a:ext>
            </a:extLst>
          </p:cNvPr>
          <p:cNvSpPr>
            <a:spLocks xmlns:a="http://schemas.openxmlformats.org/drawingml/2006/main" noGrp="1"/>
          </p:cNvSpPr>
          <p:nvPr/>
        </p:nvSpPr>
        <p:spPr>
          <a:xfrm xmlns:a="http://schemas.openxmlformats.org/drawingml/2006/main">
            <a:off x="609600" y="50006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B36"/>
                </a:solidFill>
                <a:latin typeface="Malgun Gothic"/>
                <a:ea typeface="Malgun Gothic"/>
                <a:cs typeface="Malgun Gothic"/>
              </a:defRPr>
            </a:defPPr>
          </a:lstStyle>
          <a:p xmlns:a="http://schemas.openxmlformats.org/drawingml/2006/main">
            <a:pPr>
              <a:defRPr sz="2925" b="1">
                <a:solidFill>
                  <a:srgbClr val="173B36"/>
                </a:solidFill>
                <a:latin typeface="Malgun Gothic"/>
                <a:ea typeface="Malgun Gothic"/>
                <a:cs typeface="Malgun Gothic"/>
              </a:defRPr>
            </a:pPr>
            <a:r>
              <a:rPr sz="2925" b="1">
                <a:solidFill>
                  <a:srgbClr val="173B36"/>
                </a:solidFill>
                <a:latin typeface="Malgun Gothic"/>
                <a:ea typeface="Malgun Gothic"/>
                <a:cs typeface="Malgun Gothic"/>
              </a:rPr>
              <a:t>106개 구간 / 전체 3,743개 (2.83%)</a:t>
            </a:r>
          </a:p>
        </p:txBody>
      </p:sp>
      <p:sp>
        <p:nvSpPr>
          <p:cNvPr id="9" name="">
            <a:extLst xmlns:a="http://schemas.openxmlformats.org/drawingml/2006/main">
              <a:ext uri="{FF2B5EF4-FFF2-40B4-BE49-F238E27FC236}">
                <a16:creationId xmlns:a16="http://schemas.microsoft.com/office/drawing/2014/main" id="{5EDF17AA-D21F-4370-A94B-ECCE309C993E}"/>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기획서의 제안 기준이며 공식 위험등급이 아니다. 대구 수치는 최근 5년 평균이 아닌 2024년 1년치 사례다.</a:t>
            </a:r>
          </a:p>
        </p:txBody>
      </p:sp>
    </p:spTree>
    <p:extLst>
      <p:ext uri="{BB962C8B-B14F-4D97-AF65-F5344CB8AC3E}">
        <p14:creationId xmlns:p14="http://schemas.microsoft.com/office/powerpoint/2010/main" val="624543196"/>
      </p:ext>
    </p:extLst>
  </p:cSld>
</p:sld>
</file>

<file path=ppt/slides/slide11.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409DC0-C09A-4A0B-BF7B-57C59AE75DE2}"/>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교통량을 비교하는 기준</a:t>
            </a:r>
          </a:p>
        </p:txBody>
      </p:sp>
      <p:sp>
        <p:nvSpPr>
          <p:cNvPr id="2" name="">
            <a:extLst xmlns:a="http://schemas.openxmlformats.org/drawingml/2006/main">
              <a:ext uri="{FF2B5EF4-FFF2-40B4-BE49-F238E27FC236}">
                <a16:creationId xmlns:a16="http://schemas.microsoft.com/office/drawing/2014/main" id="{C6170F61-B282-4409-94F1-D65A0BD503DC}"/>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11</a:t>
            </a:r>
          </a:p>
        </p:txBody>
      </p:sp>
      <p:graphicFrame>
        <p:nvGraphicFramePr>
          <p:cNvPr id="3" name="">
            <a:extLst xmlns:a="http://schemas.openxmlformats.org/drawingml/2006/main">
              <a:ext uri="{FF2B5EF4-FFF2-40B4-BE49-F238E27FC236}">
                <a16:creationId xmlns:a16="http://schemas.microsoft.com/office/drawing/2014/main" id="{BFDAB648-211E-4C60-8173-EF17E896819D}"/>
              </a:ext>
            </a:extLst>
          </p:cNvPr>
          <p:cNvGraphicFramePr/>
          <p:nvPr/>
        </p:nvGraphicFramePr>
        <p:xfrm>
          <a:off xmlns:a="http://schemas.openxmlformats.org/drawingml/2006/main" x="609600" y="1619250"/>
          <a:ext xmlns:a="http://schemas.openxmlformats.org/drawingml/2006/main" cx="10972800" cy="2905125"/>
        </p:xfrm>
        <a:graphic xmlns:a="http://schemas.openxmlformats.org/drawingml/2006/main">
          <a:graphicData uri="http://schemas.openxmlformats.org/drawingml/2006/table">
            <a:tbl>
              <a:tblPr/>
              <a:tblGrid>
                <a:gridCol w="3714750"/>
                <a:gridCol w="2000250"/>
                <a:gridCol w="2628900"/>
                <a:gridCol w="2628900"/>
              </a:tblGrid>
              <a:tr h="581025">
                <a:tc>
                  <a:txBody>
                    <a:bodyPr/>
                    <a:lstStyle/>
                    <a:p>
                      <a:r>
                        <a:rPr sz="2025" b="1">
                          <a:solidFill>
                            <a:srgbClr val="FFFFFF"/>
                          </a:solidFill>
                          <a:latin typeface="Malgun Gothic"/>
                          <a:ea typeface="Malgun Gothic"/>
                          <a:cs typeface="Malgun Gothic"/>
                        </a:rPr>
                        <a:t>선택 도로 구간</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2025" b="1">
                          <a:solidFill>
                            <a:srgbClr val="FFFFFF"/>
                          </a:solidFill>
                          <a:latin typeface="Malgun Gothic"/>
                          <a:ea typeface="Malgun Gothic"/>
                          <a:cs typeface="Malgun Gothic"/>
                        </a:rPr>
                        <a:t>차로 수</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2025" b="1">
                          <a:solidFill>
                            <a:srgbClr val="FFFFFF"/>
                          </a:solidFill>
                          <a:latin typeface="Malgun Gothic"/>
                          <a:ea typeface="Malgun Gothic"/>
                          <a:cs typeface="Malgun Gothic"/>
                        </a:rPr>
                        <a:t>평일 AADT</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2025" b="1">
                          <a:solidFill>
                            <a:srgbClr val="FFFFFF"/>
                          </a:solidFill>
                          <a:latin typeface="Malgun Gothic"/>
                          <a:ea typeface="Malgun Gothic"/>
                          <a:cs typeface="Malgun Gothic"/>
                        </a:rPr>
                        <a:t>차로당 값</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581025">
                <a:tc>
                  <a:txBody>
                    <a:bodyPr/>
                    <a:lstStyle/>
                    <a:p>
                      <a:r>
                        <a:rPr sz="2025" b="0">
                          <a:solidFill>
                            <a:srgbClr val="173B36"/>
                          </a:solidFill>
                          <a:latin typeface="Malgun Gothic"/>
                          <a:ea typeface="Malgun Gothic"/>
                          <a:cs typeface="Malgun Gothic"/>
                        </a:rPr>
                        <a:t>달구벌대로</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1</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5,860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5,860.0</a:t>
                      </a:r>
                    </a:p>
                  </a:txBody>
                  <a:tcPr marL="91440" marR="91440" marT="45720" marB="45720">
                    <a:lnR w="9525">
                      <a:solidFill>
                        <a:srgbClr val="D7E1DB"/>
                      </a:solidFill>
                      <a:prstDash val="solid"/>
                    </a:lnR>
                    <a:lnB w="9525">
                      <a:solidFill>
                        <a:srgbClr val="D7E1DB"/>
                      </a:solidFill>
                      <a:prstDash val="solid"/>
                    </a:lnB>
                    <a:solidFill>
                      <a:srgbClr val="FFFFFF"/>
                    </a:solidFill>
                  </a:tcPr>
                </a:tc>
              </a:tr>
              <a:tr h="581025">
                <a:tc>
                  <a:txBody>
                    <a:bodyPr/>
                    <a:lstStyle/>
                    <a:p>
                      <a:r>
                        <a:rPr sz="2025" b="0">
                          <a:solidFill>
                            <a:srgbClr val="173B36"/>
                          </a:solidFill>
                          <a:latin typeface="Malgun Gothic"/>
                          <a:ea typeface="Malgun Gothic"/>
                          <a:cs typeface="Malgun Gothic"/>
                        </a:rPr>
                        <a:t>범안로</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2</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21,686</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10,843.0</a:t>
                      </a:r>
                    </a:p>
                  </a:txBody>
                  <a:tcPr marL="91440" marR="91440" marT="45720" marB="45720">
                    <a:lnR w="9525">
                      <a:solidFill>
                        <a:srgbClr val="D7E1DB"/>
                      </a:solidFill>
                      <a:prstDash val="solid"/>
                    </a:lnR>
                    <a:lnB w="9525">
                      <a:solidFill>
                        <a:srgbClr val="D7E1DB"/>
                      </a:solidFill>
                      <a:prstDash val="solid"/>
                    </a:lnB>
                    <a:solidFill>
                      <a:srgbClr val="E7F0E9"/>
                    </a:solidFill>
                  </a:tcPr>
                </a:tc>
              </a:tr>
              <a:tr h="581025">
                <a:tc>
                  <a:txBody>
                    <a:bodyPr/>
                    <a:lstStyle/>
                    <a:p>
                      <a:r>
                        <a:rPr sz="2025" b="0">
                          <a:solidFill>
                            <a:srgbClr val="173B36"/>
                          </a:solidFill>
                          <a:latin typeface="Malgun Gothic"/>
                          <a:ea typeface="Malgun Gothic"/>
                          <a:cs typeface="Malgun Gothic"/>
                        </a:rPr>
                        <a:t>상인로</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4</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5,014</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2025" b="0">
                          <a:solidFill>
                            <a:srgbClr val="173B36"/>
                          </a:solidFill>
                          <a:latin typeface="Malgun Gothic"/>
                          <a:ea typeface="Malgun Gothic"/>
                          <a:cs typeface="Malgun Gothic"/>
                        </a:rPr>
                        <a:t>1,253.5</a:t>
                      </a:r>
                    </a:p>
                  </a:txBody>
                  <a:tcPr marL="91440" marR="91440" marT="45720" marB="45720">
                    <a:lnR w="9525">
                      <a:solidFill>
                        <a:srgbClr val="D7E1DB"/>
                      </a:solidFill>
                      <a:prstDash val="solid"/>
                    </a:lnR>
                    <a:lnB w="9525">
                      <a:solidFill>
                        <a:srgbClr val="D7E1DB"/>
                      </a:solidFill>
                      <a:prstDash val="solid"/>
                    </a:lnB>
                    <a:solidFill>
                      <a:srgbClr val="FFFFFF"/>
                    </a:solidFill>
                  </a:tcPr>
                </a:tc>
              </a:tr>
              <a:tr h="581025">
                <a:tc>
                  <a:txBody>
                    <a:bodyPr/>
                    <a:lstStyle/>
                    <a:p>
                      <a:r>
                        <a:rPr sz="2025" b="0">
                          <a:solidFill>
                            <a:srgbClr val="173B36"/>
                          </a:solidFill>
                          <a:latin typeface="Malgun Gothic"/>
                          <a:ea typeface="Malgun Gothic"/>
                          <a:cs typeface="Malgun Gothic"/>
                        </a:rPr>
                        <a:t>월배로</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6</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22,230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2025" b="0">
                          <a:solidFill>
                            <a:srgbClr val="173B36"/>
                          </a:solidFill>
                          <a:latin typeface="Malgun Gothic"/>
                          <a:ea typeface="Malgun Gothic"/>
                          <a:cs typeface="Malgun Gothic"/>
                        </a:rPr>
                        <a:t>3,705.0</a:t>
                      </a:r>
                    </a:p>
                  </a:txBody>
                  <a:tcPr marL="91440" marR="91440" marT="45720" marB="45720">
                    <a:lnR w="9525">
                      <a:solidFill>
                        <a:srgbClr val="D7E1DB"/>
                      </a:solidFill>
                      <a:prstDash val="solid"/>
                    </a:lnR>
                    <a:lnB w="9525">
                      <a:solidFill>
                        <a:srgbClr val="D7E1DB"/>
                      </a:solidFill>
                      <a:prstDash val="solid"/>
                    </a:lnB>
                    <a:solidFill>
                      <a:srgbClr val="E7F0E9"/>
                    </a:solidFill>
                  </a:tcPr>
                </a:tc>
              </a:tr>
            </a:tbl>
          </a:graphicData>
        </a:graphic>
      </p:graphicFrame>
      <p:sp>
        <p:nvSpPr>
          <p:cNvPr id="4" name="">
            <a:extLst xmlns:a="http://schemas.openxmlformats.org/drawingml/2006/main">
              <a:ext uri="{FF2B5EF4-FFF2-40B4-BE49-F238E27FC236}">
                <a16:creationId xmlns:a16="http://schemas.microsoft.com/office/drawing/2014/main" id="{EEB07529-7325-4D7B-A668-2F8824425117}"/>
              </a:ext>
            </a:extLst>
          </p:cNvPr>
          <p:cNvSpPr>
            <a:spLocks xmlns:a="http://schemas.openxmlformats.org/drawingml/2006/main" noGrp="1"/>
          </p:cNvSpPr>
          <p:nvPr/>
        </p:nvSpPr>
        <p:spPr>
          <a:xfrm xmlns:a="http://schemas.openxmlformats.org/drawingml/2006/main">
            <a:off x="609600" y="4857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7B60"/>
                </a:solidFill>
                <a:latin typeface="Malgun Gothic"/>
                <a:ea typeface="Malgun Gothic"/>
                <a:cs typeface="Malgun Gothic"/>
              </a:defRPr>
            </a:defPPr>
          </a:lstStyle>
          <a:p xmlns:a="http://schemas.openxmlformats.org/drawingml/2006/main">
            <a:pPr>
              <a:defRPr sz="2400" b="1">
                <a:solidFill>
                  <a:srgbClr val="287B60"/>
                </a:solidFill>
                <a:latin typeface="Malgun Gothic"/>
                <a:ea typeface="Malgun Gothic"/>
                <a:cs typeface="Malgun Gothic"/>
              </a:defRPr>
            </a:pPr>
            <a:r>
              <a:rPr sz="2400" b="1">
                <a:solidFill>
                  <a:srgbClr val="287B60"/>
                </a:solidFill>
                <a:latin typeface="Malgun Gothic"/>
                <a:ea typeface="Malgun Gothic"/>
                <a:cs typeface="Malgun Gothic"/>
              </a:rPr>
              <a:t>교통량 비용 = 거리(m) × 2 × min(1, q)</a:t>
            </a:r>
          </a:p>
        </p:txBody>
      </p:sp>
      <p:sp>
        <p:nvSpPr>
          <p:cNvPr id="5" name="">
            <a:extLst xmlns:a="http://schemas.openxmlformats.org/drawingml/2006/main">
              <a:ext uri="{FF2B5EF4-FFF2-40B4-BE49-F238E27FC236}">
                <a16:creationId xmlns:a16="http://schemas.microsoft.com/office/drawing/2014/main" id="{219DF58D-1178-433B-9224-1473FAC73B0E}"/>
              </a:ext>
            </a:extLst>
          </p:cNvPr>
          <p:cNvSpPr>
            <a:spLocks xmlns:a="http://schemas.openxmlformats.org/drawingml/2006/main" noGrp="1"/>
          </p:cNvSpPr>
          <p:nvPr/>
        </p:nvSpPr>
        <p:spPr>
          <a:xfrm xmlns:a="http://schemas.openxmlformats.org/drawingml/2006/main">
            <a:off x="609600" y="53816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3B36"/>
                </a:solidFill>
                <a:latin typeface="Malgun Gothic"/>
                <a:ea typeface="Malgun Gothic"/>
                <a:cs typeface="Malgun Gothic"/>
              </a:defRPr>
            </a:defPPr>
          </a:lstStyle>
          <a:p xmlns:a="http://schemas.openxmlformats.org/drawingml/2006/main">
            <a:pPr>
              <a:defRPr sz="1725" b="0">
                <a:solidFill>
                  <a:srgbClr val="173B36"/>
                </a:solidFill>
                <a:latin typeface="Malgun Gothic"/>
                <a:ea typeface="Malgun Gothic"/>
                <a:cs typeface="Malgun Gothic"/>
              </a:defRPr>
            </a:pPr>
            <a:r>
              <a:rPr sz="1725" b="0">
                <a:solidFill>
                  <a:srgbClr val="173B36"/>
                </a:solidFill>
                <a:latin typeface="Malgun Gothic"/>
                <a:ea typeface="Malgun Gothic"/>
                <a:cs typeface="Malgun Gothic"/>
              </a:rPr>
              <a:t>q = 차로당 평일 교통량 ÷ 같은 지역의 최댓값</a:t>
            </a:r>
          </a:p>
        </p:txBody>
      </p:sp>
      <p:sp>
        <p:nvSpPr>
          <p:cNvPr id="6" name="">
            <a:extLst xmlns:a="http://schemas.openxmlformats.org/drawingml/2006/main">
              <a:ext uri="{FF2B5EF4-FFF2-40B4-BE49-F238E27FC236}">
                <a16:creationId xmlns:a16="http://schemas.microsoft.com/office/drawing/2014/main" id="{18F9ECD7-326C-462E-AEBD-0AA07F2E1767}"/>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2024년 대구 선택 구간 예시. 차로당 값의 단위는 대/일/차로이며 개별 차로 관측값이나 추천 순위가 아니다.</a:t>
            </a:r>
          </a:p>
        </p:txBody>
      </p:sp>
    </p:spTree>
    <p:extLst>
      <p:ext uri="{BB962C8B-B14F-4D97-AF65-F5344CB8AC3E}">
        <p14:creationId xmlns:p14="http://schemas.microsoft.com/office/powerpoint/2010/main" val="968737751"/>
      </p:ext>
    </p:extLst>
  </p:cSld>
</p:sld>
</file>

<file path=ppt/slides/slide12.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24D1FD-5E1F-43FB-B539-D82C864FDD93}"/>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대구 자료를 활용한 경로 비교</a:t>
            </a:r>
          </a:p>
        </p:txBody>
      </p:sp>
      <p:sp>
        <p:nvSpPr>
          <p:cNvPr id="2" name="">
            <a:extLst xmlns:a="http://schemas.openxmlformats.org/drawingml/2006/main">
              <a:ext uri="{FF2B5EF4-FFF2-40B4-BE49-F238E27FC236}">
                <a16:creationId xmlns:a16="http://schemas.microsoft.com/office/drawing/2014/main" id="{24F612DC-E713-45C5-8581-FA0ED1CEB639}"/>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12</a:t>
            </a:r>
          </a:p>
        </p:txBody>
      </p:sp>
      <p:pic>
        <p:nvPicPr>
          <p:cNvPr id="3" name="">
            <a:extLst xmlns:a="http://schemas.openxmlformats.org/drawingml/2006/main">
              <a:ext uri="{FF2B5EF4-FFF2-40B4-BE49-F238E27FC236}">
                <a16:creationId xmlns:a16="http://schemas.microsoft.com/office/drawing/2014/main" id="{7DDE051A-1DCE-49B0-BD5B-E89D2E409192}"/>
              </a:ext>
            </a:extLst>
          </p:cNvPr>
          <p:cNvPicPr>
            <a:picLocks xmlns:a="http://schemas.openxmlformats.org/drawingml/2006/main" noChangeAspect="1"/>
          </p:cNvPicPr>
          <p:nvPr/>
        </p:nvPicPr>
        <p:blipFill>
          <a:blip xmlns:r="http://schemas.openxmlformats.org/officeDocument/2006/relationships" xmlns:a="http://schemas.openxmlformats.org/drawingml/2006/main" r:embed="R5a80e505d68d4a04"/>
          <a:stretch xmlns:a="http://schemas.openxmlformats.org/drawingml/2006/main"/>
        </p:blipFill>
        <p:spPr>
          <a:xfrm xmlns:a="http://schemas.openxmlformats.org/drawingml/2006/main">
            <a:off x="1138767" y="1476375"/>
            <a:ext cx="7037917"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792D8F-571E-420E-BD6C-5F68FD99434E}"/>
              </a:ext>
            </a:extLst>
          </p:cNvPr>
          <p:cNvSpPr>
            <a:spLocks xmlns:a="http://schemas.openxmlformats.org/drawingml/2006/main" noGrp="1"/>
          </p:cNvSpPr>
          <p:nvPr/>
        </p:nvSpPr>
        <p:spPr>
          <a:xfrm xmlns:a="http://schemas.openxmlformats.org/drawingml/2006/main">
            <a:off x="9048750" y="1809750"/>
            <a:ext cx="2571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같은 출발 위치</a:t>
            </a:r>
          </a:p>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5~10km 순환형</a:t>
            </a:r>
          </a:p>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좌회전 연습</a:t>
            </a:r>
          </a:p>
        </p:txBody>
      </p:sp>
      <p:sp>
        <p:nvSpPr>
          <p:cNvPr id="5" name="">
            <a:extLst xmlns:a="http://schemas.openxmlformats.org/drawingml/2006/main">
              <a:ext uri="{FF2B5EF4-FFF2-40B4-BE49-F238E27FC236}">
                <a16:creationId xmlns:a16="http://schemas.microsoft.com/office/drawing/2014/main" id="{06175EB3-FBBC-4DF7-B1B9-A2FBE09484A6}"/>
              </a:ext>
            </a:extLst>
          </p:cNvPr>
          <p:cNvSpPr>
            <a:spLocks xmlns:a="http://schemas.openxmlformats.org/drawingml/2006/main" noGrp="1"/>
          </p:cNvSpPr>
          <p:nvPr/>
        </p:nvSpPr>
        <p:spPr>
          <a:xfrm xmlns:a="http://schemas.openxmlformats.org/drawingml/2006/main">
            <a:off x="9048750" y="4048125"/>
            <a:ext cx="252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3B36"/>
                </a:solidFill>
                <a:latin typeface="Malgun Gothic"/>
                <a:ea typeface="Malgun Gothic"/>
                <a:cs typeface="Malgun Gothic"/>
              </a:defRPr>
            </a:defPPr>
          </a:lstStyle>
          <a:p xmlns:a="http://schemas.openxmlformats.org/drawingml/2006/main">
            <a:pPr>
              <a:defRPr sz="1725" b="0">
                <a:solidFill>
                  <a:srgbClr val="173B36"/>
                </a:solidFill>
                <a:latin typeface="Malgun Gothic"/>
                <a:ea typeface="Malgun Gothic"/>
                <a:cs typeface="Malgun Gothic"/>
              </a:defRPr>
            </a:pPr>
            <a:r>
              <a:rPr sz="1725" b="0">
                <a:solidFill>
                  <a:srgbClr val="173B36"/>
                </a:solidFill>
                <a:latin typeface="Malgun Gothic"/>
                <a:ea typeface="Malgun Gothic"/>
                <a:cs typeface="Malgun Gothic"/>
              </a:rPr>
              <a:t>A  6.67km / 좌회전 1회</a:t>
            </a:r>
          </a:p>
          <a:p xmlns:a="http://schemas.openxmlformats.org/drawingml/2006/main">
            <a:pPr>
              <a:defRPr sz="1725" b="0">
                <a:solidFill>
                  <a:srgbClr val="173B36"/>
                </a:solidFill>
                <a:latin typeface="Malgun Gothic"/>
                <a:ea typeface="Malgun Gothic"/>
                <a:cs typeface="Malgun Gothic"/>
              </a:defRPr>
            </a:pPr>
            <a:r>
              <a:rPr sz="1725" b="0">
                <a:solidFill>
                  <a:srgbClr val="173B36"/>
                </a:solidFill>
                <a:latin typeface="Malgun Gothic"/>
                <a:ea typeface="Malgun Gothic"/>
                <a:cs typeface="Malgun Gothic"/>
              </a:rPr>
              <a:t>B  9.77km / 좌회전 7회</a:t>
            </a:r>
          </a:p>
          <a:p xmlns:a="http://schemas.openxmlformats.org/drawingml/2006/main">
            <a:pPr>
              <a:defRPr sz="1725" b="0">
                <a:solidFill>
                  <a:srgbClr val="173B36"/>
                </a:solidFill>
                <a:latin typeface="Malgun Gothic"/>
                <a:ea typeface="Malgun Gothic"/>
                <a:cs typeface="Malgun Gothic"/>
              </a:defRPr>
            </a:pPr>
            <a:r>
              <a:rPr sz="1725" b="0">
                <a:solidFill>
                  <a:srgbClr val="173B36"/>
                </a:solidFill>
                <a:latin typeface="Malgun Gothic"/>
                <a:ea typeface="Malgun Gothic"/>
                <a:cs typeface="Malgun Gothic"/>
              </a:rPr>
              <a:t>C  9.42km / 좌회전 2회</a:t>
            </a:r>
          </a:p>
        </p:txBody>
      </p:sp>
    </p:spTree>
    <p:extLst>
      <p:ext uri="{BB962C8B-B14F-4D97-AF65-F5344CB8AC3E}">
        <p14:creationId xmlns:p14="http://schemas.microsoft.com/office/powerpoint/2010/main" val="1364946587"/>
      </p:ext>
    </p:extLst>
  </p:cSld>
</p:sld>
</file>

<file path=ppt/slides/slide13.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AE3269-3688-4D5A-B884-7BE9C44E1258}"/>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후보 비교와 선택 예시</a:t>
            </a:r>
          </a:p>
        </p:txBody>
      </p:sp>
      <p:sp>
        <p:nvSpPr>
          <p:cNvPr id="2" name="">
            <a:extLst xmlns:a="http://schemas.openxmlformats.org/drawingml/2006/main">
              <a:ext uri="{FF2B5EF4-FFF2-40B4-BE49-F238E27FC236}">
                <a16:creationId xmlns:a16="http://schemas.microsoft.com/office/drawing/2014/main" id="{8636E0BC-B308-4B79-A72C-9B86AB441565}"/>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13</a:t>
            </a:r>
          </a:p>
        </p:txBody>
      </p:sp>
      <p:graphicFrame>
        <p:nvGraphicFramePr>
          <p:cNvPr id="3" name="">
            <a:extLst xmlns:a="http://schemas.openxmlformats.org/drawingml/2006/main">
              <a:ext uri="{FF2B5EF4-FFF2-40B4-BE49-F238E27FC236}">
                <a16:creationId xmlns:a16="http://schemas.microsoft.com/office/drawing/2014/main" id="{7297B234-9DAA-46A6-B924-9365320001AD}"/>
              </a:ext>
            </a:extLst>
          </p:cNvPr>
          <p:cNvGraphicFramePr/>
          <p:nvPr/>
        </p:nvGraphicFramePr>
        <p:xfrm>
          <a:off xmlns:a="http://schemas.openxmlformats.org/drawingml/2006/main" x="609600" y="1476375"/>
          <a:ext xmlns:a="http://schemas.openxmlformats.org/drawingml/2006/main" cx="10972800" cy="3429000"/>
        </p:xfrm>
        <a:graphic xmlns:a="http://schemas.openxmlformats.org/drawingml/2006/main">
          <a:graphicData uri="http://schemas.openxmlformats.org/drawingml/2006/table">
            <a:tbl>
              <a:tblPr/>
              <a:tblGrid>
                <a:gridCol w="3543300"/>
                <a:gridCol w="2476500"/>
                <a:gridCol w="2476500"/>
                <a:gridCol w="2476500"/>
              </a:tblGrid>
              <a:tr h="489857">
                <a:tc>
                  <a:txBody>
                    <a:bodyPr/>
                    <a:lstStyle/>
                    <a:p>
                      <a:r>
                        <a:rPr sz="1800" b="1">
                          <a:solidFill>
                            <a:srgbClr val="FFFFFF"/>
                          </a:solidFill>
                          <a:latin typeface="Malgun Gothic"/>
                          <a:ea typeface="Malgun Gothic"/>
                          <a:cs typeface="Malgun Gothic"/>
                        </a:rPr>
                        <a:t>비교 항목</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800" b="1">
                          <a:solidFill>
                            <a:srgbClr val="FFFFFF"/>
                          </a:solidFill>
                          <a:latin typeface="Malgun Gothic"/>
                          <a:ea typeface="Malgun Gothic"/>
                          <a:cs typeface="Malgun Gothic"/>
                        </a:rPr>
                        <a:t>후보 A</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800" b="1">
                          <a:solidFill>
                            <a:srgbClr val="FFFFFF"/>
                          </a:solidFill>
                          <a:latin typeface="Malgun Gothic"/>
                          <a:ea typeface="Malgun Gothic"/>
                          <a:cs typeface="Malgun Gothic"/>
                        </a:rPr>
                        <a:t>후보 B</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800" b="1">
                          <a:solidFill>
                            <a:srgbClr val="FFFFFF"/>
                          </a:solidFill>
                          <a:latin typeface="Malgun Gothic"/>
                          <a:ea typeface="Malgun Gothic"/>
                          <a:cs typeface="Malgun Gothic"/>
                        </a:rPr>
                        <a:t>후보 C</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489857">
                <a:tc>
                  <a:txBody>
                    <a:bodyPr/>
                    <a:lstStyle/>
                    <a:p>
                      <a:r>
                        <a:rPr sz="1800" b="0">
                          <a:solidFill>
                            <a:srgbClr val="173B36"/>
                          </a:solidFill>
                          <a:latin typeface="Malgun Gothic"/>
                          <a:ea typeface="Malgun Gothic"/>
                          <a:cs typeface="Malgun Gothic"/>
                        </a:rPr>
                        <a:t>주행거리</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6.67km</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9.77km</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9.42km</a:t>
                      </a:r>
                    </a:p>
                  </a:txBody>
                  <a:tcPr marL="91440" marR="91440" marT="45720" marB="45720">
                    <a:lnR w="9525">
                      <a:solidFill>
                        <a:srgbClr val="D7E1DB"/>
                      </a:solidFill>
                      <a:prstDash val="solid"/>
                    </a:lnR>
                    <a:lnB w="9525">
                      <a:solidFill>
                        <a:srgbClr val="D7E1DB"/>
                      </a:solidFill>
                      <a:prstDash val="solid"/>
                    </a:lnB>
                    <a:solidFill>
                      <a:srgbClr val="FFFFFF"/>
                    </a:solidFill>
                  </a:tcPr>
                </a:tc>
              </a:tr>
              <a:tr h="489857">
                <a:tc>
                  <a:txBody>
                    <a:bodyPr/>
                    <a:lstStyle/>
                    <a:p>
                      <a:r>
                        <a:rPr sz="1800" b="0">
                          <a:solidFill>
                            <a:srgbClr val="173B36"/>
                          </a:solidFill>
                          <a:latin typeface="Malgun Gothic"/>
                          <a:ea typeface="Malgun Gothic"/>
                          <a:cs typeface="Malgun Gothic"/>
                        </a:rPr>
                        <a:t>총비용</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25,170.59</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34,190.26</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33,380.85</a:t>
                      </a:r>
                    </a:p>
                  </a:txBody>
                  <a:tcPr marL="91440" marR="91440" marT="45720" marB="45720">
                    <a:lnR w="9525">
                      <a:solidFill>
                        <a:srgbClr val="D7E1DB"/>
                      </a:solidFill>
                      <a:prstDash val="solid"/>
                    </a:lnR>
                    <a:lnB w="9525">
                      <a:solidFill>
                        <a:srgbClr val="D7E1DB"/>
                      </a:solidFill>
                      <a:prstDash val="solid"/>
                    </a:lnB>
                    <a:solidFill>
                      <a:srgbClr val="E7F0E9"/>
                    </a:solidFill>
                  </a:tcPr>
                </a:tc>
              </a:tr>
              <a:tr h="489857">
                <a:tc>
                  <a:txBody>
                    <a:bodyPr/>
                    <a:lstStyle/>
                    <a:p>
                      <a:r>
                        <a:rPr sz="1800" b="0">
                          <a:solidFill>
                            <a:srgbClr val="173B36"/>
                          </a:solidFill>
                          <a:latin typeface="Malgun Gothic"/>
                          <a:ea typeface="Malgun Gothic"/>
                          <a:cs typeface="Malgun Gothic"/>
                        </a:rPr>
                        <a:t>km당 비용</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3,774.29</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3,501.25</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3,543.38</a:t>
                      </a:r>
                    </a:p>
                  </a:txBody>
                  <a:tcPr marL="91440" marR="91440" marT="45720" marB="45720">
                    <a:lnR w="9525">
                      <a:solidFill>
                        <a:srgbClr val="D7E1DB"/>
                      </a:solidFill>
                      <a:prstDash val="solid"/>
                    </a:lnR>
                    <a:lnB w="9525">
                      <a:solidFill>
                        <a:srgbClr val="D7E1DB"/>
                      </a:solidFill>
                      <a:prstDash val="solid"/>
                    </a:lnB>
                    <a:solidFill>
                      <a:srgbClr val="FFFFFF"/>
                    </a:solidFill>
                  </a:tcPr>
                </a:tc>
              </a:tr>
              <a:tr h="489857">
                <a:tc>
                  <a:txBody>
                    <a:bodyPr/>
                    <a:lstStyle/>
                    <a:p>
                      <a:r>
                        <a:rPr sz="1800" b="0">
                          <a:solidFill>
                            <a:srgbClr val="173B36"/>
                          </a:solidFill>
                          <a:latin typeface="Malgun Gothic"/>
                          <a:ea typeface="Malgun Gothic"/>
                          <a:cs typeface="Malgun Gothic"/>
                        </a:rPr>
                        <a:t>좌 / 우 / 유턴</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1 / 4 / 1회</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7 / 3 / 0회</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2 / 6 / 0회</a:t>
                      </a:r>
                    </a:p>
                  </a:txBody>
                  <a:tcPr marL="91440" marR="91440" marT="45720" marB="45720">
                    <a:lnR w="9525">
                      <a:solidFill>
                        <a:srgbClr val="D7E1DB"/>
                      </a:solidFill>
                      <a:prstDash val="solid"/>
                    </a:lnR>
                    <a:lnB w="9525">
                      <a:solidFill>
                        <a:srgbClr val="D7E1DB"/>
                      </a:solidFill>
                      <a:prstDash val="solid"/>
                    </a:lnB>
                    <a:solidFill>
                      <a:srgbClr val="E7F0E9"/>
                    </a:solidFill>
                  </a:tcPr>
                </a:tc>
              </a:tr>
              <a:tr h="489857">
                <a:tc>
                  <a:txBody>
                    <a:bodyPr/>
                    <a:lstStyle/>
                    <a:p>
                      <a:r>
                        <a:rPr sz="1800" b="0">
                          <a:solidFill>
                            <a:srgbClr val="173B36"/>
                          </a:solidFill>
                          <a:latin typeface="Malgun Gothic"/>
                          <a:ea typeface="Malgun Gothic"/>
                          <a:cs typeface="Malgun Gothic"/>
                        </a:rPr>
                        <a:t>상대 난이도</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어려움</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쉬움</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800" b="0">
                          <a:solidFill>
                            <a:srgbClr val="173B36"/>
                          </a:solidFill>
                          <a:latin typeface="Malgun Gothic"/>
                          <a:ea typeface="Malgun Gothic"/>
                          <a:cs typeface="Malgun Gothic"/>
                        </a:rPr>
                        <a:t>쉬움</a:t>
                      </a:r>
                    </a:p>
                  </a:txBody>
                  <a:tcPr marL="91440" marR="91440" marT="45720" marB="45720">
                    <a:lnR w="9525">
                      <a:solidFill>
                        <a:srgbClr val="D7E1DB"/>
                      </a:solidFill>
                      <a:prstDash val="solid"/>
                    </a:lnR>
                    <a:lnB w="9525">
                      <a:solidFill>
                        <a:srgbClr val="D7E1DB"/>
                      </a:solidFill>
                      <a:prstDash val="solid"/>
                    </a:lnB>
                    <a:solidFill>
                      <a:srgbClr val="FFFFFF"/>
                    </a:solidFill>
                  </a:tcPr>
                </a:tc>
              </a:tr>
              <a:tr h="489857">
                <a:tc>
                  <a:txBody>
                    <a:bodyPr/>
                    <a:lstStyle/>
                    <a:p>
                      <a:r>
                        <a:rPr sz="1800" b="0">
                          <a:solidFill>
                            <a:srgbClr val="173B36"/>
                          </a:solidFill>
                          <a:latin typeface="Malgun Gothic"/>
                          <a:ea typeface="Malgun Gothic"/>
                          <a:cs typeface="Malgun Gothic"/>
                        </a:rPr>
                        <a:t>사고 자료 적용 거리</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100.00%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92.46%</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800" b="0">
                          <a:solidFill>
                            <a:srgbClr val="173B36"/>
                          </a:solidFill>
                          <a:latin typeface="Malgun Gothic"/>
                          <a:ea typeface="Malgun Gothic"/>
                          <a:cs typeface="Malgun Gothic"/>
                        </a:rPr>
                        <a:t>100.00%</a:t>
                      </a:r>
                    </a:p>
                  </a:txBody>
                  <a:tcPr marL="91440" marR="91440" marT="45720" marB="45720">
                    <a:lnR w="9525">
                      <a:solidFill>
                        <a:srgbClr val="D7E1DB"/>
                      </a:solidFill>
                      <a:prstDash val="solid"/>
                    </a:lnR>
                    <a:lnB w="9525">
                      <a:solidFill>
                        <a:srgbClr val="D7E1DB"/>
                      </a:solidFill>
                      <a:prstDash val="solid"/>
                    </a:lnB>
                    <a:solidFill>
                      <a:srgbClr val="E7F0E9"/>
                    </a:solidFill>
                  </a:tcPr>
                </a:tc>
              </a:tr>
            </a:tbl>
          </a:graphicData>
        </a:graphic>
      </p:graphicFrame>
      <p:sp>
        <p:nvSpPr>
          <p:cNvPr id="4" name="">
            <a:extLst xmlns:a="http://schemas.openxmlformats.org/drawingml/2006/main">
              <a:ext uri="{FF2B5EF4-FFF2-40B4-BE49-F238E27FC236}">
                <a16:creationId xmlns:a16="http://schemas.microsoft.com/office/drawing/2014/main" id="{344EC0A1-0896-4DD1-BF55-BE4933777964}"/>
              </a:ext>
            </a:extLst>
          </p:cNvPr>
          <p:cNvSpPr>
            <a:spLocks xmlns:a="http://schemas.openxmlformats.org/drawingml/2006/main" noGrp="1"/>
          </p:cNvSpPr>
          <p:nvPr/>
        </p:nvSpPr>
        <p:spPr>
          <a:xfrm xmlns:a="http://schemas.openxmlformats.org/drawingml/2006/main">
            <a:off x="609600" y="52197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7B60"/>
                </a:solidFill>
                <a:latin typeface="Malgun Gothic"/>
                <a:ea typeface="Malgun Gothic"/>
                <a:cs typeface="Malgun Gothic"/>
              </a:defRPr>
            </a:defPPr>
          </a:lstStyle>
          <a:p xmlns:a="http://schemas.openxmlformats.org/drawingml/2006/main">
            <a:pPr>
              <a:defRPr sz="2100" b="1">
                <a:solidFill>
                  <a:srgbClr val="287B60"/>
                </a:solidFill>
                <a:latin typeface="Malgun Gothic"/>
                <a:ea typeface="Malgun Gothic"/>
                <a:cs typeface="Malgun Gothic"/>
              </a:defRPr>
            </a:pPr>
            <a:r>
              <a:rPr sz="2100" b="1">
                <a:solidFill>
                  <a:srgbClr val="287B60"/>
                </a:solidFill>
                <a:latin typeface="Malgun Gothic"/>
                <a:ea typeface="Malgun Gothic"/>
                <a:cs typeface="Malgun Gothic"/>
              </a:rPr>
              <a:t>후보 B 우선 제안: 좌회전 7회, 회전 합계 10회, 가장 낮은 km당 비용</a:t>
            </a:r>
          </a:p>
        </p:txBody>
      </p:sp>
      <p:sp>
        <p:nvSpPr>
          <p:cNvPr id="5" name="">
            <a:extLst xmlns:a="http://schemas.openxmlformats.org/drawingml/2006/main">
              <a:ext uri="{FF2B5EF4-FFF2-40B4-BE49-F238E27FC236}">
                <a16:creationId xmlns:a16="http://schemas.microsoft.com/office/drawing/2014/main" id="{796B012E-C2E5-4A43-AD28-57C1C3B55316}"/>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2024년 대구 자료 계산 예시. km당 비용은 반올림 전 거리로 계산하며, 자료 없음은 실제 무사고를 뜻하지 않는다.</a:t>
            </a:r>
          </a:p>
        </p:txBody>
      </p:sp>
    </p:spTree>
    <p:extLst>
      <p:ext uri="{BB962C8B-B14F-4D97-AF65-F5344CB8AC3E}">
        <p14:creationId xmlns:p14="http://schemas.microsoft.com/office/powerpoint/2010/main" val="708122757"/>
      </p:ext>
    </p:extLst>
  </p:cSld>
</p:sld>
</file>

<file path=ppt/slides/slide14.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1E5149-9140-4C5D-88AB-1A46D4DE785A}"/>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기대효과</a:t>
            </a:r>
          </a:p>
        </p:txBody>
      </p:sp>
      <p:sp>
        <p:nvSpPr>
          <p:cNvPr id="2" name="">
            <a:extLst xmlns:a="http://schemas.openxmlformats.org/drawingml/2006/main">
              <a:ext uri="{FF2B5EF4-FFF2-40B4-BE49-F238E27FC236}">
                <a16:creationId xmlns:a16="http://schemas.microsoft.com/office/drawing/2014/main" id="{27205097-AD59-4FAA-BC8A-81AFC4F30FB9}"/>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BECDE978-BA3E-4EE9-9A9D-D602D48CCE5F}"/>
              </a:ext>
            </a:extLst>
          </p:cNvPr>
          <p:cNvSpPr>
            <a:spLocks xmlns:a="http://schemas.openxmlformats.org/drawingml/2006/main" noGrp="1"/>
          </p:cNvSpPr>
          <p:nvPr/>
        </p:nvSpPr>
        <p:spPr>
          <a:xfrm xmlns:a="http://schemas.openxmlformats.org/drawingml/2006/main">
            <a:off x="609600" y="157162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목표에 맞는 경로 선택</a:t>
            </a:r>
          </a:p>
        </p:txBody>
      </p:sp>
      <p:sp>
        <p:nvSpPr>
          <p:cNvPr id="4" name="">
            <a:extLst xmlns:a="http://schemas.openxmlformats.org/drawingml/2006/main">
              <a:ext uri="{FF2B5EF4-FFF2-40B4-BE49-F238E27FC236}">
                <a16:creationId xmlns:a16="http://schemas.microsoft.com/office/drawing/2014/main" id="{7C1FCDFE-B547-46CC-ACBA-E0AB444B7DAC}"/>
              </a:ext>
            </a:extLst>
          </p:cNvPr>
          <p:cNvSpPr>
            <a:spLocks xmlns:a="http://schemas.openxmlformats.org/drawingml/2006/main" noGrp="1"/>
          </p:cNvSpPr>
          <p:nvPr/>
        </p:nvSpPr>
        <p:spPr>
          <a:xfrm xmlns:a="http://schemas.openxmlformats.org/drawingml/2006/main">
            <a:off x="609600" y="21431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원하는 운전 경험과 후보 특징을 함께 비교</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지도와 추천 이유로 선택 근거를 이해</a:t>
            </a:r>
          </a:p>
        </p:txBody>
      </p:sp>
      <p:sp>
        <p:nvSpPr>
          <p:cNvPr id="5" name="">
            <a:extLst xmlns:a="http://schemas.openxmlformats.org/drawingml/2006/main">
              <a:ext uri="{FF2B5EF4-FFF2-40B4-BE49-F238E27FC236}">
                <a16:creationId xmlns:a16="http://schemas.microsoft.com/office/drawing/2014/main" id="{C2DD004D-D662-485D-B92D-79F1E22B522D}"/>
              </a:ext>
            </a:extLst>
          </p:cNvPr>
          <p:cNvSpPr>
            <a:spLocks xmlns:a="http://schemas.openxmlformats.org/drawingml/2006/main" noGrp="1"/>
          </p:cNvSpPr>
          <p:nvPr/>
        </p:nvSpPr>
        <p:spPr>
          <a:xfrm xmlns:a="http://schemas.openxmlformats.org/drawingml/2006/main">
            <a:off x="6381750" y="157162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연습 전 부담 조절</a:t>
            </a:r>
          </a:p>
        </p:txBody>
      </p:sp>
      <p:sp>
        <p:nvSpPr>
          <p:cNvPr id="6" name="">
            <a:extLst xmlns:a="http://schemas.openxmlformats.org/drawingml/2006/main">
              <a:ext uri="{FF2B5EF4-FFF2-40B4-BE49-F238E27FC236}">
                <a16:creationId xmlns:a16="http://schemas.microsoft.com/office/drawing/2014/main" id="{5F31360C-213F-400A-92D2-B39A88FCE054}"/>
              </a:ext>
            </a:extLst>
          </p:cNvPr>
          <p:cNvSpPr>
            <a:spLocks xmlns:a="http://schemas.openxmlformats.org/drawingml/2006/main" noGrp="1"/>
          </p:cNvSpPr>
          <p:nvPr/>
        </p:nvSpPr>
        <p:spPr>
          <a:xfrm xmlns:a="http://schemas.openxmlformats.org/drawingml/2006/main">
            <a:off x="6381750" y="2143125"/>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회전·교차로·교통량을 미리 살펴보고</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희망 거리와 목표를 자신의 상황에 맞게 변경</a:t>
            </a:r>
          </a:p>
        </p:txBody>
      </p:sp>
      <p:sp>
        <p:nvSpPr>
          <p:cNvPr id="7" name="">
            <a:extLst xmlns:a="http://schemas.openxmlformats.org/drawingml/2006/main">
              <a:ext uri="{FF2B5EF4-FFF2-40B4-BE49-F238E27FC236}">
                <a16:creationId xmlns:a16="http://schemas.microsoft.com/office/drawing/2014/main" id="{78455D81-E0FF-48CE-8F51-73910AC889DA}"/>
              </a:ext>
            </a:extLst>
          </p:cNvPr>
          <p:cNvSpPr>
            <a:spLocks xmlns:a="http://schemas.openxmlformats.org/drawingml/2006/main" noGrp="1"/>
          </p:cNvSpPr>
          <p:nvPr/>
        </p:nvSpPr>
        <p:spPr>
          <a:xfrm xmlns:a="http://schemas.openxmlformats.org/drawingml/2006/main">
            <a:off x="609600" y="37147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반복 연습과 계획 공유</a:t>
            </a:r>
          </a:p>
        </p:txBody>
      </p:sp>
      <p:sp>
        <p:nvSpPr>
          <p:cNvPr id="8" name="">
            <a:extLst xmlns:a="http://schemas.openxmlformats.org/drawingml/2006/main">
              <a:ext uri="{FF2B5EF4-FFF2-40B4-BE49-F238E27FC236}">
                <a16:creationId xmlns:a16="http://schemas.microsoft.com/office/drawing/2014/main" id="{7ADB152D-A0A5-4E36-BDBF-05B027A6B674}"/>
              </a:ext>
            </a:extLst>
          </p:cNvPr>
          <p:cNvSpPr>
            <a:spLocks xmlns:a="http://schemas.openxmlformats.org/drawingml/2006/main" noGrp="1"/>
          </p:cNvSpPr>
          <p:nvPr/>
        </p:nvSpPr>
        <p:spPr>
          <a:xfrm xmlns:a="http://schemas.openxmlformats.org/drawingml/2006/main">
            <a:off x="609600" y="428625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익숙한 경로를 저장하고 다음 연습에 활용</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보호자와 같은 정보를 보며 계획을 논의</a:t>
            </a:r>
          </a:p>
        </p:txBody>
      </p:sp>
      <p:sp>
        <p:nvSpPr>
          <p:cNvPr id="9" name="">
            <a:extLst xmlns:a="http://schemas.openxmlformats.org/drawingml/2006/main">
              <a:ext uri="{FF2B5EF4-FFF2-40B4-BE49-F238E27FC236}">
                <a16:creationId xmlns:a16="http://schemas.microsoft.com/office/drawing/2014/main" id="{6FE22D93-0C09-4E15-8870-4BB03EE6D0B1}"/>
              </a:ext>
            </a:extLst>
          </p:cNvPr>
          <p:cNvSpPr>
            <a:spLocks xmlns:a="http://schemas.openxmlformats.org/drawingml/2006/main" noGrp="1"/>
          </p:cNvSpPr>
          <p:nvPr/>
        </p:nvSpPr>
        <p:spPr>
          <a:xfrm xmlns:a="http://schemas.openxmlformats.org/drawingml/2006/main">
            <a:off x="6381750" y="37147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효과를 살펴볼 기준</a:t>
            </a:r>
          </a:p>
        </p:txBody>
      </p:sp>
      <p:sp>
        <p:nvSpPr>
          <p:cNvPr id="10" name="">
            <a:extLst xmlns:a="http://schemas.openxmlformats.org/drawingml/2006/main">
              <a:ext uri="{FF2B5EF4-FFF2-40B4-BE49-F238E27FC236}">
                <a16:creationId xmlns:a16="http://schemas.microsoft.com/office/drawing/2014/main" id="{891DB23A-CCBF-4407-A4A7-EF7D3C11E125}"/>
              </a:ext>
            </a:extLst>
          </p:cNvPr>
          <p:cNvSpPr>
            <a:spLocks xmlns:a="http://schemas.openxmlformats.org/drawingml/2006/main" noGrp="1"/>
          </p:cNvSpPr>
          <p:nvPr/>
        </p:nvSpPr>
        <p:spPr>
          <a:xfrm xmlns:a="http://schemas.openxmlformats.org/drawingml/2006/main">
            <a:off x="6381750" y="428625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후보 차이의 이해도와 연습 목표 적합성</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조건 변경 편의성과 AI 설명의 적절성</a:t>
            </a:r>
          </a:p>
        </p:txBody>
      </p:sp>
      <p:sp>
        <p:nvSpPr>
          <p:cNvPr id="11" name="">
            <a:extLst xmlns:a="http://schemas.openxmlformats.org/drawingml/2006/main">
              <a:ext uri="{FF2B5EF4-FFF2-40B4-BE49-F238E27FC236}">
                <a16:creationId xmlns:a16="http://schemas.microsoft.com/office/drawing/2014/main" id="{05DAAE45-3E90-4831-B889-7CB111E7FD59}"/>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경로 선택을 돕는 효과를 제안하며, 사고 감소나 숙련도 향상을 확정된 효과로 제시하지 않는다.</a:t>
            </a:r>
          </a:p>
        </p:txBody>
      </p:sp>
    </p:spTree>
    <p:extLst>
      <p:ext uri="{BB962C8B-B14F-4D97-AF65-F5344CB8AC3E}">
        <p14:creationId xmlns:p14="http://schemas.microsoft.com/office/powerpoint/2010/main" val="1844545324"/>
      </p:ext>
    </p:extLst>
  </p:cSld>
</p:sld>
</file>

<file path=ppt/slides/slide15.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AC257D-08C4-4156-BC53-CF17A22A0F1D}"/>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확장 방향</a:t>
            </a:r>
          </a:p>
        </p:txBody>
      </p:sp>
      <p:sp>
        <p:nvSpPr>
          <p:cNvPr id="2" name="">
            <a:extLst xmlns:a="http://schemas.openxmlformats.org/drawingml/2006/main">
              <a:ext uri="{FF2B5EF4-FFF2-40B4-BE49-F238E27FC236}">
                <a16:creationId xmlns:a16="http://schemas.microsoft.com/office/drawing/2014/main" id="{CD048657-FDA7-4874-88C8-EF1E2822512C}"/>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B0EAA808-5095-4689-9D7F-7FF6470850FA}"/>
              </a:ext>
            </a:extLst>
          </p:cNvPr>
          <p:cNvSpPr>
            <a:spLocks xmlns:a="http://schemas.openxmlformats.org/drawingml/2006/main" noGrp="1"/>
          </p:cNvSpPr>
          <p:nvPr/>
        </p:nvSpPr>
        <p:spPr>
          <a:xfrm xmlns:a="http://schemas.openxmlformats.org/drawingml/2006/main">
            <a:off x="609600" y="17145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비교 정보의 확대</a:t>
            </a:r>
          </a:p>
        </p:txBody>
      </p:sp>
      <p:sp>
        <p:nvSpPr>
          <p:cNvPr id="4" name="">
            <a:extLst xmlns:a="http://schemas.openxmlformats.org/drawingml/2006/main">
              <a:ext uri="{FF2B5EF4-FFF2-40B4-BE49-F238E27FC236}">
                <a16:creationId xmlns:a16="http://schemas.microsoft.com/office/drawing/2014/main" id="{64C59420-118C-4561-944E-18E917F58D21}"/>
              </a:ext>
            </a:extLst>
          </p:cNvPr>
          <p:cNvSpPr>
            <a:spLocks xmlns:a="http://schemas.openxmlformats.org/drawingml/2006/main" noGrp="1"/>
          </p:cNvSpPr>
          <p:nvPr/>
        </p:nvSpPr>
        <p:spPr>
          <a:xfrm xmlns:a="http://schemas.openxmlformats.org/drawingml/2006/main">
            <a:off x="609600" y="228600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사고 심각도·차종별 특성·실시간 교통 정보</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지역별 자료 기간과 적용 범위 안내</a:t>
            </a:r>
          </a:p>
        </p:txBody>
      </p:sp>
      <p:sp>
        <p:nvSpPr>
          <p:cNvPr id="5" name="">
            <a:extLst xmlns:a="http://schemas.openxmlformats.org/drawingml/2006/main">
              <a:ext uri="{FF2B5EF4-FFF2-40B4-BE49-F238E27FC236}">
                <a16:creationId xmlns:a16="http://schemas.microsoft.com/office/drawing/2014/main" id="{2BBF81F1-7656-44EA-9DDF-0C0D1587DE40}"/>
              </a:ext>
            </a:extLst>
          </p:cNvPr>
          <p:cNvSpPr>
            <a:spLocks xmlns:a="http://schemas.openxmlformats.org/drawingml/2006/main" noGrp="1"/>
          </p:cNvSpPr>
          <p:nvPr/>
        </p:nvSpPr>
        <p:spPr>
          <a:xfrm xmlns:a="http://schemas.openxmlformats.org/drawingml/2006/main">
            <a:off x="6381750" y="171450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B60"/>
                </a:solidFill>
                <a:latin typeface="Malgun Gothic"/>
                <a:ea typeface="Malgun Gothic"/>
                <a:cs typeface="Malgun Gothic"/>
              </a:defRPr>
            </a:defPPr>
          </a:lstStyle>
          <a:p xmlns:a="http://schemas.openxmlformats.org/drawingml/2006/main">
            <a:pPr>
              <a:defRPr sz="2250" b="1">
                <a:solidFill>
                  <a:srgbClr val="287B60"/>
                </a:solidFill>
                <a:latin typeface="Malgun Gothic"/>
                <a:ea typeface="Malgun Gothic"/>
                <a:cs typeface="Malgun Gothic"/>
              </a:defRPr>
            </a:pPr>
            <a:r>
              <a:rPr sz="2250" b="1">
                <a:solidFill>
                  <a:srgbClr val="287B60"/>
                </a:solidFill>
                <a:latin typeface="Malgun Gothic"/>
                <a:ea typeface="Malgun Gothic"/>
                <a:cs typeface="Malgun Gothic"/>
              </a:rPr>
              <a:t>외부 내비게이션 연계</a:t>
            </a:r>
          </a:p>
        </p:txBody>
      </p:sp>
      <p:sp>
        <p:nvSpPr>
          <p:cNvPr id="6" name="">
            <a:extLst xmlns:a="http://schemas.openxmlformats.org/drawingml/2006/main">
              <a:ext uri="{FF2B5EF4-FFF2-40B4-BE49-F238E27FC236}">
                <a16:creationId xmlns:a16="http://schemas.microsoft.com/office/drawing/2014/main" id="{14B7505E-CB45-428A-9CD2-F722FF75B6C1}"/>
              </a:ext>
            </a:extLst>
          </p:cNvPr>
          <p:cNvSpPr>
            <a:spLocks xmlns:a="http://schemas.openxmlformats.org/drawingml/2006/main" noGrp="1"/>
          </p:cNvSpPr>
          <p:nvPr/>
        </p:nvSpPr>
        <p:spPr>
          <a:xfrm xmlns:a="http://schemas.openxmlformats.org/drawingml/2006/main">
            <a:off x="6381750" y="2286000"/>
            <a:ext cx="5191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출발·경유·도착점 전달 기능 검토</a:t>
            </a:r>
          </a:p>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외부 서비스의 경로 재계산을 고려한 연계</a:t>
            </a:r>
          </a:p>
        </p:txBody>
      </p:sp>
      <p:sp>
        <p:nvSpPr>
          <p:cNvPr id="7" name="">
            <a:extLst xmlns:a="http://schemas.openxmlformats.org/drawingml/2006/main">
              <a:ext uri="{FF2B5EF4-FFF2-40B4-BE49-F238E27FC236}">
                <a16:creationId xmlns:a16="http://schemas.microsoft.com/office/drawing/2014/main" id="{2C67728D-4492-4722-808E-8E50080D8615}"/>
              </a:ext>
            </a:extLst>
          </p:cNvPr>
          <p:cNvSpPr>
            <a:spLocks xmlns:a="http://schemas.openxmlformats.org/drawingml/2006/main" noGrp="1"/>
          </p:cNvSpPr>
          <p:nvPr/>
        </p:nvSpPr>
        <p:spPr>
          <a:xfrm xmlns:a="http://schemas.openxmlformats.org/drawingml/2006/main">
            <a:off x="609600" y="419100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287B60"/>
                </a:solidFill>
                <a:latin typeface="Malgun Gothic"/>
                <a:ea typeface="Malgun Gothic"/>
                <a:cs typeface="Malgun Gothic"/>
              </a:defRPr>
            </a:defPPr>
          </a:lstStyle>
          <a:p xmlns:a="http://schemas.openxmlformats.org/drawingml/2006/main">
            <a:pPr>
              <a:defRPr sz="3225" b="1">
                <a:solidFill>
                  <a:srgbClr val="287B60"/>
                </a:solidFill>
                <a:latin typeface="Malgun Gothic"/>
                <a:ea typeface="Malgun Gothic"/>
                <a:cs typeface="Malgun Gothic"/>
              </a:defRPr>
            </a:pPr>
            <a:r>
              <a:rPr sz="3225" b="1">
                <a:solidFill>
                  <a:srgbClr val="287B60"/>
                </a:solidFill>
                <a:latin typeface="Malgun Gothic"/>
                <a:ea typeface="Malgun Gothic"/>
                <a:cs typeface="Malgun Gothic"/>
              </a:rPr>
              <a:t>자신의 목표와 부담에 맞는</a:t>
            </a:r>
          </a:p>
          <a:p xmlns:a="http://schemas.openxmlformats.org/drawingml/2006/main">
            <a:pPr>
              <a:defRPr sz="3225" b="1">
                <a:solidFill>
                  <a:srgbClr val="287B60"/>
                </a:solidFill>
                <a:latin typeface="Malgun Gothic"/>
                <a:ea typeface="Malgun Gothic"/>
                <a:cs typeface="Malgun Gothic"/>
              </a:defRPr>
            </a:pPr>
            <a:r>
              <a:rPr sz="3225" b="1">
                <a:solidFill>
                  <a:srgbClr val="287B60"/>
                </a:solidFill>
                <a:latin typeface="Malgun Gothic"/>
                <a:ea typeface="Malgun Gothic"/>
                <a:cs typeface="Malgun Gothic"/>
              </a:rPr>
              <a:t>운전 연습 경로를 선택하도록 돕겠습니다.</a:t>
            </a:r>
          </a:p>
        </p:txBody>
      </p:sp>
    </p:spTree>
    <p:extLst>
      <p:ext uri="{BB962C8B-B14F-4D97-AF65-F5344CB8AC3E}">
        <p14:creationId xmlns:p14="http://schemas.microsoft.com/office/powerpoint/2010/main" val="983414266"/>
      </p:ext>
    </p:extLst>
  </p:cSld>
</p:sld>
</file>

<file path=ppt/slides/slide16.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1D2729-2499-4964-9F48-699B9CA1C0FB}"/>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참고 1 · 세부 비용 기준</a:t>
            </a:r>
          </a:p>
        </p:txBody>
      </p:sp>
      <p:sp>
        <p:nvSpPr>
          <p:cNvPr id="2" name="">
            <a:extLst xmlns:a="http://schemas.openxmlformats.org/drawingml/2006/main">
              <a:ext uri="{FF2B5EF4-FFF2-40B4-BE49-F238E27FC236}">
                <a16:creationId xmlns:a16="http://schemas.microsoft.com/office/drawing/2014/main" id="{0D992D37-72C5-451D-9049-4031A625F4F7}"/>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16</a:t>
            </a:r>
          </a:p>
        </p:txBody>
      </p:sp>
      <p:graphicFrame>
        <p:nvGraphicFramePr>
          <p:cNvPr id="3" name="">
            <a:extLst xmlns:a="http://schemas.openxmlformats.org/drawingml/2006/main">
              <a:ext uri="{FF2B5EF4-FFF2-40B4-BE49-F238E27FC236}">
                <a16:creationId xmlns:a16="http://schemas.microsoft.com/office/drawing/2014/main" id="{C55A49B7-948C-4ACD-8844-370C9A562D1C}"/>
              </a:ext>
            </a:extLst>
          </p:cNvPr>
          <p:cNvGraphicFramePr/>
          <p:nvPr/>
        </p:nvGraphicFramePr>
        <p:xfrm>
          <a:off xmlns:a="http://schemas.openxmlformats.org/drawingml/2006/main" x="609600" y="1476375"/>
          <a:ext xmlns:a="http://schemas.openxmlformats.org/drawingml/2006/main" cx="10972800" cy="3810000"/>
        </p:xfrm>
        <a:graphic xmlns:a="http://schemas.openxmlformats.org/drawingml/2006/main">
          <a:graphicData uri="http://schemas.openxmlformats.org/drawingml/2006/table">
            <a:tbl>
              <a:tblPr/>
              <a:tblGrid>
                <a:gridCol w="2333625"/>
                <a:gridCol w="4733925"/>
                <a:gridCol w="3905250"/>
              </a:tblGrid>
              <a:tr h="762000">
                <a:tc>
                  <a:txBody>
                    <a:bodyPr/>
                    <a:lstStyle/>
                    <a:p>
                      <a:r>
                        <a:rPr sz="1725" b="1">
                          <a:solidFill>
                            <a:srgbClr val="FFFFFF"/>
                          </a:solidFill>
                          <a:latin typeface="Malgun Gothic"/>
                          <a:ea typeface="Malgun Gothic"/>
                          <a:cs typeface="Malgun Gothic"/>
                        </a:rPr>
                        <a:t>항목</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기본 기준</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연습·선호 조정</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762000">
                <a:tc>
                  <a:txBody>
                    <a:bodyPr/>
                    <a:lstStyle/>
                    <a:p>
                      <a:r>
                        <a:rPr sz="1725" b="0">
                          <a:solidFill>
                            <a:srgbClr val="173B36"/>
                          </a:solidFill>
                          <a:latin typeface="Malgun Gothic"/>
                          <a:ea typeface="Malgun Gothic"/>
                          <a:cs typeface="Malgun Gothic"/>
                        </a:rPr>
                        <a:t>차로 기본 / m</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3~5차로 1 / 2·6차로 1.5</a:t>
                      </a:r>
                    </a:p>
                    <a:p>
                      <a:r>
                        <a:rPr sz="1725" b="0">
                          <a:solidFill>
                            <a:srgbClr val="173B36"/>
                          </a:solidFill>
                          <a:latin typeface="Malgun Gothic"/>
                          <a:ea typeface="Malgun Gothic"/>
                          <a:cs typeface="Malgun Gothic"/>
                        </a:rPr>
                        <a:t>7차로 2 / 8차로 이상 2.5</a:t>
                      </a:r>
                    </a:p>
                    <a:p>
                      <a:r>
                        <a:rPr sz="1725" b="0">
                          <a:solidFill>
                            <a:srgbClr val="173B36"/>
                          </a:solidFill>
                          <a:latin typeface="Malgun Gothic"/>
                          <a:ea typeface="Malgun Gothic"/>
                          <a:cs typeface="Malgun Gothic"/>
                        </a:rPr>
                        <a:t>1차로·미확인 3</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비선호 차로 +3/m</a:t>
                      </a:r>
                    </a:p>
                  </a:txBody>
                  <a:tcPr marL="91440" marR="91440" marT="45720" marB="45720">
                    <a:lnR w="9525">
                      <a:solidFill>
                        <a:srgbClr val="D7E1DB"/>
                      </a:solidFill>
                      <a:prstDash val="solid"/>
                    </a:lnR>
                    <a:lnB w="9525">
                      <a:solidFill>
                        <a:srgbClr val="D7E1DB"/>
                      </a:solidFill>
                      <a:prstDash val="solid"/>
                    </a:lnB>
                    <a:solidFill>
                      <a:srgbClr val="FFFFFF"/>
                    </a:solidFill>
                  </a:tcPr>
                </a:tc>
              </a:tr>
              <a:tr h="762000">
                <a:tc>
                  <a:txBody>
                    <a:bodyPr/>
                    <a:lstStyle/>
                    <a:p>
                      <a:r>
                        <a:rPr sz="1725" b="0">
                          <a:solidFill>
                            <a:srgbClr val="173B36"/>
                          </a:solidFill>
                          <a:latin typeface="Malgun Gothic"/>
                          <a:ea typeface="Malgun Gothic"/>
                          <a:cs typeface="Malgun Gothic"/>
                        </a:rPr>
                        <a:t>도로 연습</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좁은 도로·교차로 특성 반영</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1차로 −0.75/m</a:t>
                      </a:r>
                    </a:p>
                    <a:p>
                      <a:r>
                        <a:rPr sz="1725" b="0">
                          <a:solidFill>
                            <a:srgbClr val="173B36"/>
                          </a:solidFill>
                          <a:latin typeface="Malgun Gothic"/>
                          <a:ea typeface="Malgun Gothic"/>
                          <a:cs typeface="Malgun Gothic"/>
                        </a:rPr>
                        <a:t>교차로 기본 비용 −15%</a:t>
                      </a:r>
                    </a:p>
                  </a:txBody>
                  <a:tcPr marL="91440" marR="91440" marT="45720" marB="45720">
                    <a:lnR w="9525">
                      <a:solidFill>
                        <a:srgbClr val="D7E1DB"/>
                      </a:solidFill>
                      <a:prstDash val="solid"/>
                    </a:lnR>
                    <a:lnB w="9525">
                      <a:solidFill>
                        <a:srgbClr val="D7E1DB"/>
                      </a:solidFill>
                      <a:prstDash val="solid"/>
                    </a:lnB>
                    <a:solidFill>
                      <a:srgbClr val="E7F0E9"/>
                    </a:solidFill>
                  </a:tcPr>
                </a:tc>
              </a:tr>
              <a:tr h="762000">
                <a:tc>
                  <a:txBody>
                    <a:bodyPr/>
                    <a:lstStyle/>
                    <a:p>
                      <a:r>
                        <a:rPr sz="1725" b="0">
                          <a:solidFill>
                            <a:srgbClr val="173B36"/>
                          </a:solidFill>
                          <a:latin typeface="Malgun Gothic"/>
                          <a:ea typeface="Malgun Gothic"/>
                          <a:cs typeface="Malgun Gothic"/>
                        </a:rPr>
                        <a:t>회전 / 회</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직진 0 / 우회전 500</a:t>
                      </a:r>
                    </a:p>
                    <a:p>
                      <a:r>
                        <a:rPr sz="1725" b="0">
                          <a:solidFill>
                            <a:srgbClr val="173B36"/>
                          </a:solidFill>
                          <a:latin typeface="Malgun Gothic"/>
                          <a:ea typeface="Malgun Gothic"/>
                          <a:cs typeface="Malgun Gothic"/>
                        </a:rPr>
                        <a:t>좌회전 250 / 유턴 1,000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목표 선택 시 70% 감소</a:t>
                      </a:r>
                    </a:p>
                    <a:p>
                      <a:r>
                        <a:rPr sz="1725" b="0">
                          <a:solidFill>
                            <a:srgbClr val="173B36"/>
                          </a:solidFill>
                          <a:latin typeface="Malgun Gothic"/>
                          <a:ea typeface="Malgun Gothic"/>
                          <a:cs typeface="Malgun Gothic"/>
                        </a:rPr>
                        <a:t>우 150 / 좌 75 / 유턴 300</a:t>
                      </a:r>
                    </a:p>
                  </a:txBody>
                  <a:tcPr marL="91440" marR="91440" marT="45720" marB="45720">
                    <a:lnR w="9525">
                      <a:solidFill>
                        <a:srgbClr val="D7E1DB"/>
                      </a:solidFill>
                      <a:prstDash val="solid"/>
                    </a:lnR>
                    <a:lnB w="9525">
                      <a:solidFill>
                        <a:srgbClr val="D7E1DB"/>
                      </a:solidFill>
                      <a:prstDash val="solid"/>
                    </a:lnB>
                    <a:solidFill>
                      <a:srgbClr val="FFFFFF"/>
                    </a:solidFill>
                  </a:tcPr>
                </a:tc>
              </a:tr>
              <a:tr h="762000">
                <a:tc>
                  <a:txBody>
                    <a:bodyPr/>
                    <a:lstStyle/>
                    <a:p>
                      <a:r>
                        <a:rPr sz="1725" b="0">
                          <a:solidFill>
                            <a:srgbClr val="173B36"/>
                          </a:solidFill>
                          <a:latin typeface="Malgun Gothic"/>
                          <a:ea typeface="Malgun Gothic"/>
                          <a:cs typeface="Malgun Gothic"/>
                        </a:rPr>
                        <a:t>반대 방향 재주행</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유턴 연습 순환형의 귀환 경로</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해당 재주행 +3/m</a:t>
                      </a:r>
                    </a:p>
                  </a:txBody>
                  <a:tcPr marL="91440" marR="91440" marT="45720" marB="45720">
                    <a:lnR w="9525">
                      <a:solidFill>
                        <a:srgbClr val="D7E1DB"/>
                      </a:solidFill>
                      <a:prstDash val="solid"/>
                    </a:lnR>
                    <a:lnB w="9525">
                      <a:solidFill>
                        <a:srgbClr val="D7E1DB"/>
                      </a:solidFill>
                      <a:prstDash val="solid"/>
                    </a:lnB>
                    <a:solidFill>
                      <a:srgbClr val="E7F0E9"/>
                    </a:solidFill>
                  </a:tcPr>
                </a:tc>
              </a:tr>
            </a:tbl>
          </a:graphicData>
        </a:graphic>
      </p:graphicFrame>
      <p:sp>
        <p:nvSpPr>
          <p:cNvPr id="4" name="">
            <a:extLst xmlns:a="http://schemas.openxmlformats.org/drawingml/2006/main">
              <a:ext uri="{FF2B5EF4-FFF2-40B4-BE49-F238E27FC236}">
                <a16:creationId xmlns:a16="http://schemas.microsoft.com/office/drawing/2014/main" id="{82D2D1C6-26EB-43BF-A44B-7F4D8F1B2DDF}"/>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교차로 연습 조정은 출발 연결점의 서로 다른 인접 연결점이 3개 이상인 경우에 적용한다.</a:t>
            </a:r>
          </a:p>
        </p:txBody>
      </p:sp>
    </p:spTree>
    <p:extLst>
      <p:ext uri="{BB962C8B-B14F-4D97-AF65-F5344CB8AC3E}">
        <p14:creationId xmlns:p14="http://schemas.microsoft.com/office/powerpoint/2010/main" val="2038710119"/>
      </p:ext>
    </p:extLst>
  </p:cSld>
</p:sld>
</file>

<file path=ppt/slides/slide17.xml><?xml version="1.0" encoding="utf-8"?>
<p:sld xmlns:p="http://schemas.openxmlformats.org/presentationml/2006/main">
  <p:cSld>
    <p:bg>
      <p:bgPr>
        <a:solidFill xmlns:a="http://schemas.openxmlformats.org/drawingml/2006/main">
          <a:srgbClr val="FAFB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30F0BD-7323-4A96-AF70-6BBBA1E43DCE}"/>
              </a:ext>
            </a:extLst>
          </p:cNvPr>
          <p:cNvSpPr>
            <a:spLocks xmlns:a="http://schemas.openxmlformats.org/drawingml/2006/main" noGrp="1"/>
          </p:cNvSpPr>
          <p:nvPr/>
        </p:nvSpPr>
        <p:spPr>
          <a:xfrm xmlns:a="http://schemas.openxmlformats.org/drawingml/2006/main">
            <a:off x="609600" y="4000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B36"/>
                </a:solidFill>
                <a:latin typeface="Malgun Gothic"/>
                <a:ea typeface="Malgun Gothic"/>
                <a:cs typeface="Malgun Gothic"/>
              </a:defRPr>
            </a:defPPr>
          </a:lstStyle>
          <a:p xmlns:a="http://schemas.openxmlformats.org/drawingml/2006/main">
            <a:pPr>
              <a:defRPr sz="3300" b="1">
                <a:solidFill>
                  <a:srgbClr val="173B36"/>
                </a:solidFill>
                <a:latin typeface="Malgun Gothic"/>
                <a:ea typeface="Malgun Gothic"/>
                <a:cs typeface="Malgun Gothic"/>
              </a:defRPr>
            </a:pPr>
            <a:r>
              <a:rPr sz="3300" b="1">
                <a:solidFill>
                  <a:srgbClr val="173B36"/>
                </a:solidFill>
                <a:latin typeface="Malgun Gothic"/>
                <a:ea typeface="Malgun Gothic"/>
                <a:cs typeface="Malgun Gothic"/>
              </a:rPr>
              <a:t>참고 2 · 사고 가산 계산 예시</a:t>
            </a:r>
          </a:p>
        </p:txBody>
      </p:sp>
      <p:sp>
        <p:nvSpPr>
          <p:cNvPr id="2" name="">
            <a:extLst xmlns:a="http://schemas.openxmlformats.org/drawingml/2006/main">
              <a:ext uri="{FF2B5EF4-FFF2-40B4-BE49-F238E27FC236}">
                <a16:creationId xmlns:a16="http://schemas.microsoft.com/office/drawing/2014/main" id="{B47F2BE4-5E01-45E4-9FCC-AAA89CD2A11F}"/>
              </a:ext>
            </a:extLst>
          </p:cNvPr>
          <p:cNvSpPr>
            <a:spLocks xmlns:a="http://schemas.openxmlformats.org/drawingml/2006/main" noGrp="1"/>
          </p:cNvSpPr>
          <p:nvPr/>
        </p:nvSpPr>
        <p:spPr>
          <a:xfrm xmlns:a="http://schemas.openxmlformats.org/drawingml/2006/main">
            <a:off x="11144250" y="636270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6C67"/>
                </a:solidFill>
                <a:latin typeface="Malgun Gothic"/>
                <a:ea typeface="Malgun Gothic"/>
                <a:cs typeface="Malgun Gothic"/>
              </a:defRPr>
            </a:defPPr>
          </a:lstStyle>
          <a:p xmlns:a="http://schemas.openxmlformats.org/drawingml/2006/main">
            <a:pPr>
              <a:defRPr sz="1275" b="0">
                <a:solidFill>
                  <a:srgbClr val="596C67"/>
                </a:solidFill>
                <a:latin typeface="Malgun Gothic"/>
                <a:ea typeface="Malgun Gothic"/>
                <a:cs typeface="Malgun Gothic"/>
              </a:defRPr>
            </a:pPr>
            <a:r>
              <a:rPr sz="1275" b="0">
                <a:solidFill>
                  <a:srgbClr val="596C67"/>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D12209A1-6D10-43FC-83D3-E2AE3C034C21}"/>
              </a:ext>
            </a:extLst>
          </p:cNvPr>
          <p:cNvSpPr>
            <a:spLocks xmlns:a="http://schemas.openxmlformats.org/drawingml/2006/main" noGrp="1"/>
          </p:cNvSpPr>
          <p:nvPr/>
        </p:nvSpPr>
        <p:spPr>
          <a:xfrm xmlns:a="http://schemas.openxmlformats.org/drawingml/2006/main">
            <a:off x="609600" y="1428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87B60"/>
                </a:solidFill>
                <a:latin typeface="Malgun Gothic"/>
                <a:ea typeface="Malgun Gothic"/>
                <a:cs typeface="Malgun Gothic"/>
              </a:defRPr>
            </a:defPPr>
          </a:lstStyle>
          <a:p xmlns:a="http://schemas.openxmlformats.org/drawingml/2006/main">
            <a:pPr>
              <a:defRPr sz="2400" b="1">
                <a:solidFill>
                  <a:srgbClr val="287B60"/>
                </a:solidFill>
                <a:latin typeface="Malgun Gothic"/>
                <a:ea typeface="Malgun Gothic"/>
                <a:cs typeface="Malgun Gothic"/>
              </a:defRPr>
            </a:pPr>
            <a:r>
              <a:rPr sz="2400" b="1">
                <a:solidFill>
                  <a:srgbClr val="287B60"/>
                </a:solidFill>
                <a:latin typeface="Malgun Gothic"/>
                <a:ea typeface="Malgun Gothic"/>
                <a:cs typeface="Malgun Gothic"/>
              </a:rPr>
              <a:t>추가 사고 비용 = B × (1.2ᵏ − 1)     k = ⌈x / 2⌉</a:t>
            </a:r>
          </a:p>
        </p:txBody>
      </p:sp>
      <p:sp>
        <p:nvSpPr>
          <p:cNvPr id="4" name="">
            <a:extLst xmlns:a="http://schemas.openxmlformats.org/drawingml/2006/main">
              <a:ext uri="{FF2B5EF4-FFF2-40B4-BE49-F238E27FC236}">
                <a16:creationId xmlns:a16="http://schemas.microsoft.com/office/drawing/2014/main" id="{86A4E4B7-124A-46E2-A8A5-CA801F6C9CE3}"/>
              </a:ext>
            </a:extLst>
          </p:cNvPr>
          <p:cNvSpPr>
            <a:spLocks xmlns:a="http://schemas.openxmlformats.org/drawingml/2006/main" noGrp="1"/>
          </p:cNvSpPr>
          <p:nvPr/>
        </p:nvSpPr>
        <p:spPr>
          <a:xfrm xmlns:a="http://schemas.openxmlformats.org/drawingml/2006/main">
            <a:off x="609600" y="2114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B36"/>
                </a:solidFill>
                <a:latin typeface="Malgun Gothic"/>
                <a:ea typeface="Malgun Gothic"/>
                <a:cs typeface="Malgun Gothic"/>
              </a:defRPr>
            </a:defPPr>
          </a:lstStyle>
          <a:p xmlns:a="http://schemas.openxmlformats.org/drawingml/2006/main">
            <a:pPr>
              <a:defRPr sz="2025" b="0">
                <a:solidFill>
                  <a:srgbClr val="173B36"/>
                </a:solidFill>
                <a:latin typeface="Malgun Gothic"/>
                <a:ea typeface="Malgun Gothic"/>
                <a:cs typeface="Malgun Gothic"/>
              </a:defRPr>
            </a:pPr>
            <a:r>
              <a:rPr sz="2025" b="0">
                <a:solidFill>
                  <a:srgbClr val="173B36"/>
                </a:solidFill>
                <a:latin typeface="Malgun Gothic"/>
                <a:ea typeface="Malgun Gothic"/>
                <a:cs typeface="Malgun Gothic"/>
              </a:rPr>
              <a:t>x = N (N ≤ 2) / x = 실제 밀도 r (N &gt; 2)</a:t>
            </a:r>
          </a:p>
        </p:txBody>
      </p:sp>
      <p:graphicFrame>
        <p:nvGraphicFramePr>
          <p:cNvPr id="5" name="">
            <a:extLst xmlns:a="http://schemas.openxmlformats.org/drawingml/2006/main">
              <a:ext uri="{FF2B5EF4-FFF2-40B4-BE49-F238E27FC236}">
                <a16:creationId xmlns:a16="http://schemas.microsoft.com/office/drawing/2014/main" id="{49530403-B34F-4B26-849C-2C2DE5E8492E}"/>
              </a:ext>
            </a:extLst>
          </p:cNvPr>
          <p:cNvGraphicFramePr/>
          <p:nvPr/>
        </p:nvGraphicFramePr>
        <p:xfrm>
          <a:off xmlns:a="http://schemas.openxmlformats.org/drawingml/2006/main" x="609600" y="2857500"/>
          <a:ext xmlns:a="http://schemas.openxmlformats.org/drawingml/2006/main" cx="10972800" cy="2762250"/>
        </p:xfrm>
        <a:graphic xmlns:a="http://schemas.openxmlformats.org/drawingml/2006/main">
          <a:graphicData uri="http://schemas.openxmlformats.org/drawingml/2006/table">
            <a:tbl>
              <a:tblPr/>
              <a:tblGrid>
                <a:gridCol w="1828800"/>
                <a:gridCol w="1828800"/>
                <a:gridCol w="1828800"/>
                <a:gridCol w="1828800"/>
                <a:gridCol w="1828800"/>
                <a:gridCol w="1828800"/>
              </a:tblGrid>
              <a:tr h="394607">
                <a:tc>
                  <a:txBody>
                    <a:bodyPr/>
                    <a:lstStyle/>
                    <a:p>
                      <a:r>
                        <a:rPr sz="1725" b="1">
                          <a:solidFill>
                            <a:srgbClr val="FFFFFF"/>
                          </a:solidFill>
                          <a:latin typeface="Malgun Gothic"/>
                          <a:ea typeface="Malgun Gothic"/>
                          <a:cs typeface="Malgun Gothic"/>
                        </a:rPr>
                        <a:t>N(건)</a:t>
                      </a:r>
                    </a:p>
                  </a:txBody>
                  <a:tcPr marL="91440" marR="91440" marT="45720" marB="45720">
                    <a:lnL w="9525">
                      <a:solidFill>
                        <a:srgbClr val="D7E1DB"/>
                      </a:solidFill>
                      <a:prstDash val="solid"/>
                    </a:lnL>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길이(km)</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실제 밀도</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기본 B</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추가 비용</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c>
                  <a:txBody>
                    <a:bodyPr/>
                    <a:lstStyle/>
                    <a:p>
                      <a:r>
                        <a:rPr sz="1725" b="1">
                          <a:solidFill>
                            <a:srgbClr val="FFFFFF"/>
                          </a:solidFill>
                          <a:latin typeface="Malgun Gothic"/>
                          <a:ea typeface="Malgun Gothic"/>
                          <a:cs typeface="Malgun Gothic"/>
                        </a:rPr>
                        <a:t>가산 후</a:t>
                      </a:r>
                    </a:p>
                  </a:txBody>
                  <a:tcPr marL="91440" marR="91440" marT="45720" marB="45720">
                    <a:lnR w="9525">
                      <a:solidFill>
                        <a:srgbClr val="D7E1DB"/>
                      </a:solidFill>
                      <a:prstDash val="solid"/>
                    </a:lnR>
                    <a:lnT w="9525">
                      <a:solidFill>
                        <a:srgbClr val="D7E1DB"/>
                      </a:solidFill>
                      <a:prstDash val="solid"/>
                    </a:lnT>
                    <a:lnB w="9525">
                      <a:solidFill>
                        <a:srgbClr val="D7E1DB"/>
                      </a:solidFill>
                      <a:prstDash val="solid"/>
                    </a:lnB>
                    <a:solidFill>
                      <a:srgbClr val="173B36"/>
                    </a:solidFill>
                  </a:tcPr>
                </a:tc>
              </a:tr>
              <a:tr h="394607">
                <a:tc>
                  <a:txBody>
                    <a:bodyPr/>
                    <a:lstStyle/>
                    <a:p>
                      <a:r>
                        <a:rPr sz="1725" b="0">
                          <a:solidFill>
                            <a:srgbClr val="173B36"/>
                          </a:solidFill>
                          <a:latin typeface="Malgun Gothic"/>
                          <a:ea typeface="Malgun Gothic"/>
                          <a:cs typeface="Malgun Gothic"/>
                        </a:rPr>
                        <a:t>1</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0.1</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10건/km</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100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20.00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120.00</a:t>
                      </a:r>
                    </a:p>
                  </a:txBody>
                  <a:tcPr marL="91440" marR="91440" marT="45720" marB="45720">
                    <a:lnR w="9525">
                      <a:solidFill>
                        <a:srgbClr val="D7E1DB"/>
                      </a:solidFill>
                      <a:prstDash val="solid"/>
                    </a:lnR>
                    <a:lnB w="9525">
                      <a:solidFill>
                        <a:srgbClr val="D7E1DB"/>
                      </a:solidFill>
                      <a:prstDash val="solid"/>
                    </a:lnB>
                    <a:solidFill>
                      <a:srgbClr val="FFFFFF"/>
                    </a:solidFill>
                  </a:tcPr>
                </a:tc>
              </a:tr>
              <a:tr h="394607">
                <a:tc>
                  <a:txBody>
                    <a:bodyPr/>
                    <a:lstStyle/>
                    <a:p>
                      <a:r>
                        <a:rPr sz="1725" b="0">
                          <a:solidFill>
                            <a:srgbClr val="173B36"/>
                          </a:solidFill>
                          <a:latin typeface="Malgun Gothic"/>
                          <a:ea typeface="Malgun Gothic"/>
                          <a:cs typeface="Malgun Gothic"/>
                        </a:rPr>
                        <a:t>2</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0.1</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20건/km</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100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20.00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120.00</a:t>
                      </a:r>
                    </a:p>
                  </a:txBody>
                  <a:tcPr marL="91440" marR="91440" marT="45720" marB="45720">
                    <a:lnR w="9525">
                      <a:solidFill>
                        <a:srgbClr val="D7E1DB"/>
                      </a:solidFill>
                      <a:prstDash val="solid"/>
                    </a:lnR>
                    <a:lnB w="9525">
                      <a:solidFill>
                        <a:srgbClr val="D7E1DB"/>
                      </a:solidFill>
                      <a:prstDash val="solid"/>
                    </a:lnB>
                    <a:solidFill>
                      <a:srgbClr val="E7F0E9"/>
                    </a:solidFill>
                  </a:tcPr>
                </a:tc>
              </a:tr>
              <a:tr h="394607">
                <a:tc>
                  <a:txBody>
                    <a:bodyPr/>
                    <a:lstStyle/>
                    <a:p>
                      <a:r>
                        <a:rPr sz="1725" b="0">
                          <a:solidFill>
                            <a:srgbClr val="173B36"/>
                          </a:solidFill>
                          <a:latin typeface="Malgun Gothic"/>
                          <a:ea typeface="Malgun Gothic"/>
                          <a:cs typeface="Malgun Gothic"/>
                        </a:rPr>
                        <a:t>3</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0.5</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6건/km</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500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364.00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864.00</a:t>
                      </a:r>
                    </a:p>
                  </a:txBody>
                  <a:tcPr marL="91440" marR="91440" marT="45720" marB="45720">
                    <a:lnR w="9525">
                      <a:solidFill>
                        <a:srgbClr val="D7E1DB"/>
                      </a:solidFill>
                      <a:prstDash val="solid"/>
                    </a:lnR>
                    <a:lnB w="9525">
                      <a:solidFill>
                        <a:srgbClr val="D7E1DB"/>
                      </a:solidFill>
                      <a:prstDash val="solid"/>
                    </a:lnB>
                    <a:solidFill>
                      <a:srgbClr val="FFFFFF"/>
                    </a:solidFill>
                  </a:tcPr>
                </a:tc>
              </a:tr>
              <a:tr h="394607">
                <a:tc>
                  <a:txBody>
                    <a:bodyPr/>
                    <a:lstStyle/>
                    <a:p>
                      <a:r>
                        <a:rPr sz="1725" b="0">
                          <a:solidFill>
                            <a:srgbClr val="173B36"/>
                          </a:solidFill>
                          <a:latin typeface="Malgun Gothic"/>
                          <a:ea typeface="Malgun Gothic"/>
                          <a:cs typeface="Malgun Gothic"/>
                        </a:rPr>
                        <a:t>3</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0.2</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15건/km</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200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659.96</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859.96</a:t>
                      </a:r>
                    </a:p>
                  </a:txBody>
                  <a:tcPr marL="91440" marR="91440" marT="45720" marB="45720">
                    <a:lnR w="9525">
                      <a:solidFill>
                        <a:srgbClr val="D7E1DB"/>
                      </a:solidFill>
                      <a:prstDash val="solid"/>
                    </a:lnR>
                    <a:lnB w="9525">
                      <a:solidFill>
                        <a:srgbClr val="D7E1DB"/>
                      </a:solidFill>
                      <a:prstDash val="solid"/>
                    </a:lnB>
                    <a:solidFill>
                      <a:srgbClr val="E7F0E9"/>
                    </a:solidFill>
                  </a:tcPr>
                </a:tc>
              </a:tr>
              <a:tr h="394607">
                <a:tc>
                  <a:txBody>
                    <a:bodyPr/>
                    <a:lstStyle/>
                    <a:p>
                      <a:r>
                        <a:rPr sz="1725" b="0">
                          <a:solidFill>
                            <a:srgbClr val="173B36"/>
                          </a:solidFill>
                          <a:latin typeface="Malgun Gothic"/>
                          <a:ea typeface="Malgun Gothic"/>
                          <a:cs typeface="Malgun Gothic"/>
                        </a:rPr>
                        <a:t>3</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0.1</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30건/km</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100</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제외</a:t>
                      </a:r>
                    </a:p>
                  </a:txBody>
                  <a:tcPr marL="91440" marR="91440" marT="45720" marB="45720">
                    <a:lnR w="9525">
                      <a:solidFill>
                        <a:srgbClr val="D7E1DB"/>
                      </a:solidFill>
                      <a:prstDash val="solid"/>
                    </a:lnR>
                    <a:lnB w="9525">
                      <a:solidFill>
                        <a:srgbClr val="D7E1DB"/>
                      </a:solidFill>
                      <a:prstDash val="solid"/>
                    </a:lnB>
                    <a:solidFill>
                      <a:srgbClr val="FFFFFF"/>
                    </a:solidFill>
                  </a:tcPr>
                </a:tc>
                <a:tc>
                  <a:txBody>
                    <a:bodyPr/>
                    <a:lstStyle/>
                    <a:p>
                      <a:r>
                        <a:rPr sz="1725" b="0">
                          <a:solidFill>
                            <a:srgbClr val="173B36"/>
                          </a:solidFill>
                          <a:latin typeface="Malgun Gothic"/>
                          <a:ea typeface="Malgun Gothic"/>
                          <a:cs typeface="Malgun Gothic"/>
                        </a:rPr>
                        <a:t>제외</a:t>
                      </a:r>
                    </a:p>
                  </a:txBody>
                  <a:tcPr marL="91440" marR="91440" marT="45720" marB="45720">
                    <a:lnR w="9525">
                      <a:solidFill>
                        <a:srgbClr val="D7E1DB"/>
                      </a:solidFill>
                      <a:prstDash val="solid"/>
                    </a:lnR>
                    <a:lnB w="9525">
                      <a:solidFill>
                        <a:srgbClr val="D7E1DB"/>
                      </a:solidFill>
                      <a:prstDash val="solid"/>
                    </a:lnB>
                    <a:solidFill>
                      <a:srgbClr val="FFFFFF"/>
                    </a:solidFill>
                  </a:tcPr>
                </a:tc>
              </a:tr>
              <a:tr h="394607">
                <a:tc>
                  <a:txBody>
                    <a:bodyPr/>
                    <a:lstStyle/>
                    <a:p>
                      <a:r>
                        <a:rPr sz="1725" b="0">
                          <a:solidFill>
                            <a:srgbClr val="173B36"/>
                          </a:solidFill>
                          <a:latin typeface="Malgun Gothic"/>
                          <a:ea typeface="Malgun Gothic"/>
                          <a:cs typeface="Malgun Gothic"/>
                        </a:rPr>
                        <a:t>12</a:t>
                      </a:r>
                    </a:p>
                  </a:txBody>
                  <a:tcPr marL="91440" marR="91440" marT="45720" marB="45720">
                    <a:lnL w="9525">
                      <a:solidFill>
                        <a:srgbClr val="D7E1DB"/>
                      </a:solidFill>
                      <a:prstDash val="solid"/>
                    </a:lnL>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2.0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6건/km</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2,000</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제외</a:t>
                      </a:r>
                    </a:p>
                  </a:txBody>
                  <a:tcPr marL="91440" marR="91440" marT="45720" marB="45720">
                    <a:lnR w="9525">
                      <a:solidFill>
                        <a:srgbClr val="D7E1DB"/>
                      </a:solidFill>
                      <a:prstDash val="solid"/>
                    </a:lnR>
                    <a:lnB w="9525">
                      <a:solidFill>
                        <a:srgbClr val="D7E1DB"/>
                      </a:solidFill>
                      <a:prstDash val="solid"/>
                    </a:lnB>
                    <a:solidFill>
                      <a:srgbClr val="E7F0E9"/>
                    </a:solidFill>
                  </a:tcPr>
                </a:tc>
                <a:tc>
                  <a:txBody>
                    <a:bodyPr/>
                    <a:lstStyle/>
                    <a:p>
                      <a:r>
                        <a:rPr sz="1725" b="0">
                          <a:solidFill>
                            <a:srgbClr val="173B36"/>
                          </a:solidFill>
                          <a:latin typeface="Malgun Gothic"/>
                          <a:ea typeface="Malgun Gothic"/>
                          <a:cs typeface="Malgun Gothic"/>
                        </a:rPr>
                        <a:t>제외</a:t>
                      </a:r>
                    </a:p>
                  </a:txBody>
                  <a:tcPr marL="91440" marR="91440" marT="45720" marB="45720">
                    <a:lnR w="9525">
                      <a:solidFill>
                        <a:srgbClr val="D7E1DB"/>
                      </a:solidFill>
                      <a:prstDash val="solid"/>
                    </a:lnR>
                    <a:lnB w="9525">
                      <a:solidFill>
                        <a:srgbClr val="D7E1DB"/>
                      </a:solidFill>
                      <a:prstDash val="solid"/>
                    </a:lnB>
                    <a:solidFill>
                      <a:srgbClr val="E7F0E9"/>
                    </a:solidFill>
                  </a:tcPr>
                </a:tc>
              </a:tr>
            </a:tbl>
          </a:graphicData>
        </a:graphic>
      </p:graphicFrame>
      <p:sp>
        <p:nvSpPr>
          <p:cNvPr id="6" name="">
            <a:extLst xmlns:a="http://schemas.openxmlformats.org/drawingml/2006/main">
              <a:ext uri="{FF2B5EF4-FFF2-40B4-BE49-F238E27FC236}">
                <a16:creationId xmlns:a16="http://schemas.microsoft.com/office/drawing/2014/main" id="{30AD436B-3298-4BB1-BE4E-FE8B769C8AF1}"/>
              </a:ext>
            </a:extLst>
          </p:cNvPr>
          <p:cNvSpPr>
            <a:spLocks xmlns:a="http://schemas.openxmlformats.org/drawingml/2006/main" noGrp="1"/>
          </p:cNvSpPr>
          <p:nvPr/>
        </p:nvSpPr>
        <p:spPr>
          <a:xfrm xmlns:a="http://schemas.openxmlformats.org/drawingml/2006/main">
            <a:off x="6096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96C67"/>
                </a:solidFill>
                <a:latin typeface="Malgun Gothic"/>
                <a:ea typeface="Malgun Gothic"/>
                <a:cs typeface="Malgun Gothic"/>
              </a:defRPr>
            </a:defPPr>
          </a:lstStyle>
          <a:p xmlns:a="http://schemas.openxmlformats.org/drawingml/2006/main">
            <a:pPr>
              <a:defRPr sz="1350" b="0">
                <a:solidFill>
                  <a:srgbClr val="596C67"/>
                </a:solidFill>
                <a:latin typeface="Malgun Gothic"/>
                <a:ea typeface="Malgun Gothic"/>
                <a:cs typeface="Malgun Gothic"/>
              </a:defRPr>
            </a:pPr>
            <a:r>
              <a:rPr sz="1350" b="0">
                <a:solidFill>
                  <a:srgbClr val="596C67"/>
                </a:solidFill>
                <a:latin typeface="Malgun Gothic"/>
                <a:ea typeface="Malgun Gothic"/>
                <a:cs typeface="Malgun Gothic"/>
              </a:rPr>
              <a:t>B를 1점/m로 가정한 계산 예시. 서비스의 N은 최근 5년 연평균이며, 실제 밀도와 비용 계산용 값을 구분한다.</a:t>
            </a:r>
          </a:p>
        </p:txBody>
      </p:sp>
    </p:spTree>
    <p:extLst>
      <p:ext uri="{BB962C8B-B14F-4D97-AF65-F5344CB8AC3E}">
        <p14:creationId xmlns:p14="http://schemas.microsoft.com/office/powerpoint/2010/main" val="2037646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2026-10-14T04:40:06.4470000Z</dcterms:created>
  <dcterms:modified xsi:type="dcterms:W3CDTF">2026-10-14T04:40:06.4470000Z</dcterms:modified>
</coreProperties>
</file>